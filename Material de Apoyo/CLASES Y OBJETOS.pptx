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823185-4E28-747E-3EBF-3751298CD37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4D710B0-23B6-17F1-B628-00DE87DAA5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2FE5769-3CC3-0BF6-86C8-AA26FD427230}"/>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5" name="Marcador de pie de página 4">
            <a:extLst>
              <a:ext uri="{FF2B5EF4-FFF2-40B4-BE49-F238E27FC236}">
                <a16:creationId xmlns:a16="http://schemas.microsoft.com/office/drawing/2014/main" id="{8487FA86-C795-583D-FC7A-ACA7F4F4211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B42A140-A438-B0FE-36A7-23A9FF1F4E92}"/>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1270280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DC1388-972C-1243-853F-84E11AFF3E3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67CE1BE-9651-C6C0-46C8-0220A87B533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8E3EB75-EA5D-F07D-46EC-FD3F2DE27278}"/>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5" name="Marcador de pie de página 4">
            <a:extLst>
              <a:ext uri="{FF2B5EF4-FFF2-40B4-BE49-F238E27FC236}">
                <a16:creationId xmlns:a16="http://schemas.microsoft.com/office/drawing/2014/main" id="{16E9F2BA-3DC1-20E4-B23C-BC5B62F0F2E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5F2DC9-52D8-B067-A74B-7DDC68918909}"/>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677589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613BFB-C162-4CF8-4A9C-70FC40AB8B5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CB3FC48-E811-3233-8737-FEE4A7865E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664FD15-26F3-9DC8-B0EC-120131343396}"/>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5" name="Marcador de pie de página 4">
            <a:extLst>
              <a:ext uri="{FF2B5EF4-FFF2-40B4-BE49-F238E27FC236}">
                <a16:creationId xmlns:a16="http://schemas.microsoft.com/office/drawing/2014/main" id="{565EBCE2-96C7-C8D5-767A-10AE6A59EE4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5983A09-2E2D-6314-B932-50AEE38836A3}"/>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2548311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5FAE24-5302-1F12-9F48-4E13D37B463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DA67190-18F4-913C-1864-09F240A34D5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641B486-9634-593E-B390-147E885CE5C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D8062DE-5A11-B8D6-D35C-84CEA5CF87E4}"/>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6" name="Marcador de pie de página 5">
            <a:extLst>
              <a:ext uri="{FF2B5EF4-FFF2-40B4-BE49-F238E27FC236}">
                <a16:creationId xmlns:a16="http://schemas.microsoft.com/office/drawing/2014/main" id="{74A14B9F-09CA-5E48-8473-CB2BF041F99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F8D8F25-9BC2-BFFB-B491-E60F9FC0DC9F}"/>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678423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89D472-DCA1-ADB5-A93F-37DAF07A001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3639E6F-EDF0-7EEE-C4A7-D603A8E136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7B39CAA-822E-9887-328F-92367ACB513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63C1725-B9C9-0370-8BFF-9A3C96A8B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12130B9-2D5A-B529-B06F-93FD1396C4F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9785E6FC-92F9-DCFB-C90C-B91B63F5A08D}"/>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8" name="Marcador de pie de página 7">
            <a:extLst>
              <a:ext uri="{FF2B5EF4-FFF2-40B4-BE49-F238E27FC236}">
                <a16:creationId xmlns:a16="http://schemas.microsoft.com/office/drawing/2014/main" id="{FD357F6B-2829-2D3E-95DF-9B7BAC0FD10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47B9A626-0B6D-6902-F151-738D9D40306D}"/>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3432330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628202-2978-BE83-F378-F051522036A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EA8FAC0-307A-65A4-4877-42E505F1F5F9}"/>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4" name="Marcador de pie de página 3">
            <a:extLst>
              <a:ext uri="{FF2B5EF4-FFF2-40B4-BE49-F238E27FC236}">
                <a16:creationId xmlns:a16="http://schemas.microsoft.com/office/drawing/2014/main" id="{CE71BF0D-7C79-575F-C514-D8640AD9A992}"/>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D37AA0B-4356-97A7-A73A-6CC385798EF1}"/>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535162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7553A0E-3F15-ABA4-EEDC-AF4E8CE5310A}"/>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3" name="Marcador de pie de página 2">
            <a:extLst>
              <a:ext uri="{FF2B5EF4-FFF2-40B4-BE49-F238E27FC236}">
                <a16:creationId xmlns:a16="http://schemas.microsoft.com/office/drawing/2014/main" id="{8D857565-9B03-1D90-4DC0-9E3435B2A211}"/>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A9FC0AD-41F8-1D3F-A604-E53F0D913937}"/>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2623622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D30FF8-1C5F-7BAC-AD33-20C2C8839AC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A80C9A4-DF4B-4A89-82D4-C9AE492BDF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FBC350F2-1550-076E-4064-6867D8A4F8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36D4723-8003-B159-149B-50BA2DE1A39C}"/>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6" name="Marcador de pie de página 5">
            <a:extLst>
              <a:ext uri="{FF2B5EF4-FFF2-40B4-BE49-F238E27FC236}">
                <a16:creationId xmlns:a16="http://schemas.microsoft.com/office/drawing/2014/main" id="{6B0A882D-F6DB-E00D-CECF-575D4E482EA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26BD993-1228-024D-3058-03ECB61E8FCD}"/>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85032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84BEDE-D485-D891-3DAC-63FD20DEC55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EB90A0E9-2DF3-D5E1-48C0-AE9F7CFB73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8626885-2656-61B1-7960-F0BF5EF930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0BF8FC1-E6C1-3950-74B7-DE50F517E62F}"/>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6" name="Marcador de pie de página 5">
            <a:extLst>
              <a:ext uri="{FF2B5EF4-FFF2-40B4-BE49-F238E27FC236}">
                <a16:creationId xmlns:a16="http://schemas.microsoft.com/office/drawing/2014/main" id="{9B673EAD-EC6C-33D6-605F-0144A531045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3B52CCE-7FBD-85C4-0E0F-9EE2D1845D6D}"/>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2081200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4FEDD2-6ED1-15D4-1062-340E6943CB4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16C4795-B038-6020-BA05-314A219026C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D6DC6CB-A727-A010-5ABE-34AE7201F38C}"/>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5" name="Marcador de pie de página 4">
            <a:extLst>
              <a:ext uri="{FF2B5EF4-FFF2-40B4-BE49-F238E27FC236}">
                <a16:creationId xmlns:a16="http://schemas.microsoft.com/office/drawing/2014/main" id="{16A6A25F-524C-0A7C-6453-4B949211357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1A2C809-49B6-A394-DCBD-DD2C53CEEDF8}"/>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3247631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11BE4B5-3D79-2CD9-6001-0A93A175AF4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4EC2BC0-0EFF-E196-003A-F26098A2677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1449679-AA58-A9A8-FB01-1FA10AEA26D3}"/>
              </a:ext>
            </a:extLst>
          </p:cNvPr>
          <p:cNvSpPr>
            <a:spLocks noGrp="1"/>
          </p:cNvSpPr>
          <p:nvPr>
            <p:ph type="dt" sz="half" idx="10"/>
          </p:nvPr>
        </p:nvSpPr>
        <p:spPr/>
        <p:txBody>
          <a:bodyPr/>
          <a:lstStyle/>
          <a:p>
            <a:fld id="{57510917-C3C7-42BE-A09E-96CF10EDE0FC}" type="datetimeFigureOut">
              <a:rPr lang="es-MX" smtClean="0"/>
              <a:t>19/09/2026</a:t>
            </a:fld>
            <a:endParaRPr lang="es-MX"/>
          </a:p>
        </p:txBody>
      </p:sp>
      <p:sp>
        <p:nvSpPr>
          <p:cNvPr id="5" name="Marcador de pie de página 4">
            <a:extLst>
              <a:ext uri="{FF2B5EF4-FFF2-40B4-BE49-F238E27FC236}">
                <a16:creationId xmlns:a16="http://schemas.microsoft.com/office/drawing/2014/main" id="{66E37AF6-6AAF-805B-AD58-03765A7D7E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785D967-02AE-01C8-446C-CE56F7BFF03C}"/>
              </a:ext>
            </a:extLst>
          </p:cNvPr>
          <p:cNvSpPr>
            <a:spLocks noGrp="1"/>
          </p:cNvSpPr>
          <p:nvPr>
            <p:ph type="sldNum" sz="quarter" idx="12"/>
          </p:nvPr>
        </p:nvSpPr>
        <p:spPr/>
        <p:txBody>
          <a:bodyPr/>
          <a:lstStyle/>
          <a:p>
            <a:fld id="{D9BADD98-566F-4CAB-8B93-C5E95621A754}" type="slidenum">
              <a:rPr lang="es-MX" smtClean="0"/>
              <a:t>‹Nº›</a:t>
            </a:fld>
            <a:endParaRPr lang="es-MX"/>
          </a:p>
        </p:txBody>
      </p:sp>
    </p:spTree>
    <p:extLst>
      <p:ext uri="{BB962C8B-B14F-4D97-AF65-F5344CB8AC3E}">
        <p14:creationId xmlns:p14="http://schemas.microsoft.com/office/powerpoint/2010/main" val="1165380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D7E738B-35D8-9091-B19A-5BB777211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D9CEAFC-32CA-F1BC-3CC1-5CEDB01D72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CF0C8C1-3499-C496-4C04-CD91755D18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510917-C3C7-42BE-A09E-96CF10EDE0FC}" type="datetimeFigureOut">
              <a:rPr lang="es-MX" smtClean="0"/>
              <a:t>19/09/2026</a:t>
            </a:fld>
            <a:endParaRPr lang="es-MX"/>
          </a:p>
        </p:txBody>
      </p:sp>
      <p:sp>
        <p:nvSpPr>
          <p:cNvPr id="5" name="Marcador de pie de página 4">
            <a:extLst>
              <a:ext uri="{FF2B5EF4-FFF2-40B4-BE49-F238E27FC236}">
                <a16:creationId xmlns:a16="http://schemas.microsoft.com/office/drawing/2014/main" id="{E4CA5ED0-9D74-9080-D5EE-4B749EAD75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C6EDDD1C-8F3D-624E-9210-5CCABCE94F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BADD98-566F-4CAB-8B93-C5E95621A754}" type="slidenum">
              <a:rPr lang="es-MX" smtClean="0"/>
              <a:t>‹Nº›</a:t>
            </a:fld>
            <a:endParaRPr lang="es-MX"/>
          </a:p>
        </p:txBody>
      </p:sp>
    </p:spTree>
    <p:extLst>
      <p:ext uri="{BB962C8B-B14F-4D97-AF65-F5344CB8AC3E}">
        <p14:creationId xmlns:p14="http://schemas.microsoft.com/office/powerpoint/2010/main" val="1486397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ídeo 4" descr="Fórmulas matemáticas y científicas">
            <a:extLst>
              <a:ext uri="{FF2B5EF4-FFF2-40B4-BE49-F238E27FC236}">
                <a16:creationId xmlns:a16="http://schemas.microsoft.com/office/drawing/2014/main" id="{CD6F7FF6-55E5-A938-1318-B4C7DAD1401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BFCF723-1EDF-10C6-9D47-E2F3FF73A24D}"/>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s-MX" sz="5200" dirty="0">
                <a:solidFill>
                  <a:srgbClr val="FFFFFF"/>
                </a:solidFill>
              </a:rPr>
              <a:t>CLASES Y OBJETOS</a:t>
            </a:r>
          </a:p>
        </p:txBody>
      </p:sp>
      <p:sp>
        <p:nvSpPr>
          <p:cNvPr id="3" name="Subtítulo 2">
            <a:extLst>
              <a:ext uri="{FF2B5EF4-FFF2-40B4-BE49-F238E27FC236}">
                <a16:creationId xmlns:a16="http://schemas.microsoft.com/office/drawing/2014/main" id="{34652F27-13E5-B098-4A8F-9C1A823AF375}"/>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es-MX">
              <a:solidFill>
                <a:srgbClr val="FFFFFF"/>
              </a:solidFill>
            </a:endParaRPr>
          </a:p>
        </p:txBody>
      </p:sp>
    </p:spTree>
    <p:extLst>
      <p:ext uri="{BB962C8B-B14F-4D97-AF65-F5344CB8AC3E}">
        <p14:creationId xmlns:p14="http://schemas.microsoft.com/office/powerpoint/2010/main" val="65318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28DA8C61-16E3-0679-FCA3-147D368A189B}"/>
              </a:ext>
            </a:extLst>
          </p:cNvPr>
          <p:cNvSpPr>
            <a:spLocks noGrp="1"/>
          </p:cNvSpPr>
          <p:nvPr>
            <p:ph type="title"/>
          </p:nvPr>
        </p:nvSpPr>
        <p:spPr>
          <a:xfrm>
            <a:off x="838200" y="365125"/>
            <a:ext cx="10515600" cy="1325563"/>
          </a:xfrm>
        </p:spPr>
        <p:txBody>
          <a:bodyPr>
            <a:normAutofit/>
          </a:bodyPr>
          <a:lstStyle/>
          <a:p>
            <a:br>
              <a:rPr lang="es-MX"/>
            </a:br>
            <a:r>
              <a:rPr lang="es-MX"/>
              <a:t> </a:t>
            </a:r>
            <a:r>
              <a:rPr lang="es-MX" b="1"/>
              <a:t>Clases </a:t>
            </a:r>
            <a:endParaRPr lang="es-MX" dirty="0"/>
          </a:p>
        </p:txBody>
      </p:sp>
      <p:sp>
        <p:nvSpPr>
          <p:cNvPr id="18"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3BA90FC3-1E7C-EBBE-9EF2-349EC2B686ED}"/>
              </a:ext>
            </a:extLst>
          </p:cNvPr>
          <p:cNvSpPr>
            <a:spLocks noGrp="1"/>
          </p:cNvSpPr>
          <p:nvPr>
            <p:ph idx="1"/>
          </p:nvPr>
        </p:nvSpPr>
        <p:spPr>
          <a:xfrm>
            <a:off x="838200" y="1825625"/>
            <a:ext cx="10515600" cy="4351338"/>
          </a:xfrm>
        </p:spPr>
        <p:txBody>
          <a:bodyPr>
            <a:normAutofit/>
          </a:bodyPr>
          <a:lstStyle/>
          <a:p>
            <a:endParaRPr lang="es-MX" sz="1500"/>
          </a:p>
          <a:p>
            <a:pPr marL="0" indent="0">
              <a:buNone/>
            </a:pPr>
            <a:r>
              <a:rPr lang="es-MX" sz="1500"/>
              <a:t> </a:t>
            </a:r>
            <a:r>
              <a:rPr lang="es-MX" sz="1500" b="1"/>
              <a:t>Tipos de referencia </a:t>
            </a:r>
            <a:endParaRPr lang="es-MX" sz="1500"/>
          </a:p>
          <a:p>
            <a:pPr marL="0" indent="0">
              <a:buNone/>
            </a:pPr>
            <a:r>
              <a:rPr lang="es-MX" sz="1500"/>
              <a:t>Un tipo que se define como una clase, es un tipo de referencia. Al declarar una variable de un tipo de referencia en tiempo de ejecución, esta contendrá el valor </a:t>
            </a:r>
            <a:r>
              <a:rPr lang="es-MX" sz="1500" err="1"/>
              <a:t>null</a:t>
            </a:r>
            <a:r>
              <a:rPr lang="es-MX" sz="1500"/>
              <a:t> hasta que se cree expresamente una instancia de la clase mediante el operador new o se le asigne un objeto de un tipo compatible que se ha creado en otro lugar, tal y como se muestra en el ejemplo siguiente: </a:t>
            </a:r>
          </a:p>
          <a:p>
            <a:r>
              <a:rPr lang="en-US" sz="1500"/>
              <a:t>//Declaring an object of type </a:t>
            </a:r>
            <a:r>
              <a:rPr lang="en-US" sz="1500" err="1"/>
              <a:t>MyClass</a:t>
            </a:r>
            <a:r>
              <a:rPr lang="en-US" sz="1500"/>
              <a:t>. </a:t>
            </a:r>
          </a:p>
          <a:p>
            <a:r>
              <a:rPr lang="es-MX" sz="1500" err="1"/>
              <a:t>MyClass</a:t>
            </a:r>
            <a:r>
              <a:rPr lang="es-MX" sz="1500"/>
              <a:t> </a:t>
            </a:r>
            <a:r>
              <a:rPr lang="es-MX" sz="1500" err="1"/>
              <a:t>mc</a:t>
            </a:r>
            <a:r>
              <a:rPr lang="es-MX" sz="1500"/>
              <a:t> = new </a:t>
            </a:r>
            <a:r>
              <a:rPr lang="es-MX" sz="1500" err="1"/>
              <a:t>MyClass</a:t>
            </a:r>
            <a:r>
              <a:rPr lang="es-MX" sz="1500"/>
              <a:t>(); </a:t>
            </a:r>
          </a:p>
          <a:p>
            <a:r>
              <a:rPr lang="en-US" sz="1500"/>
              <a:t>//Declaring another object of the same type, assigning it the value of the first object. </a:t>
            </a:r>
          </a:p>
          <a:p>
            <a:r>
              <a:rPr lang="es-MX" sz="1500" err="1"/>
              <a:t>MyClass</a:t>
            </a:r>
            <a:r>
              <a:rPr lang="es-MX" sz="1500"/>
              <a:t> mc2 = </a:t>
            </a:r>
            <a:r>
              <a:rPr lang="es-MX" sz="1500" err="1"/>
              <a:t>mc</a:t>
            </a:r>
            <a:r>
              <a:rPr lang="es-MX" sz="1500"/>
              <a:t>; </a:t>
            </a:r>
          </a:p>
          <a:p>
            <a:pPr marL="0" indent="0">
              <a:buNone/>
            </a:pPr>
            <a:r>
              <a:rPr lang="es-MX" sz="1500"/>
              <a:t>Cuando se crea el objeto, se asigna suficiente memoria en el montón administrado para ese objeto específico y la variable solo contiene una referencia a la ubicación de dicho objeto. Los tipos del montón administrado producen sobrecarga cuando se asignan y cuando los reclama la función de administración de memoria automática de CLR, conocida como </a:t>
            </a:r>
            <a:r>
              <a:rPr lang="es-MX" sz="1500" i="1"/>
              <a:t>recolección de elementos no utilizados</a:t>
            </a:r>
            <a:r>
              <a:rPr lang="es-MX" sz="1500"/>
              <a:t>. En cambio, la recolección de elementos no utilizados también está muy optimizada y no crea problemas de rendimiento en la mayoría de los escenarios. </a:t>
            </a:r>
          </a:p>
        </p:txBody>
      </p:sp>
    </p:spTree>
    <p:extLst>
      <p:ext uri="{BB962C8B-B14F-4D97-AF65-F5344CB8AC3E}">
        <p14:creationId xmlns:p14="http://schemas.microsoft.com/office/powerpoint/2010/main" val="272442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F5C29407-DB66-8C1A-DF03-AD40D5A4E147}"/>
              </a:ext>
            </a:extLst>
          </p:cNvPr>
          <p:cNvSpPr>
            <a:spLocks noGrp="1"/>
          </p:cNvSpPr>
          <p:nvPr>
            <p:ph type="title"/>
          </p:nvPr>
        </p:nvSpPr>
        <p:spPr>
          <a:xfrm>
            <a:off x="838200" y="365125"/>
            <a:ext cx="10515600" cy="1325563"/>
          </a:xfrm>
        </p:spPr>
        <p:txBody>
          <a:bodyPr>
            <a:normAutofit/>
          </a:bodyPr>
          <a:lstStyle/>
          <a:p>
            <a:br>
              <a:rPr lang="es-MX" dirty="0"/>
            </a:br>
            <a:r>
              <a:rPr lang="es-MX" dirty="0"/>
              <a:t> </a:t>
            </a:r>
            <a:r>
              <a:rPr lang="es-MX" b="1" dirty="0"/>
              <a:t>Declarar clases </a:t>
            </a:r>
            <a:endParaRPr lang="es-MX"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461BB587-86C1-8C4C-7565-E701FE47780E}"/>
              </a:ext>
            </a:extLst>
          </p:cNvPr>
          <p:cNvSpPr>
            <a:spLocks noGrp="1"/>
          </p:cNvSpPr>
          <p:nvPr>
            <p:ph idx="1"/>
          </p:nvPr>
        </p:nvSpPr>
        <p:spPr>
          <a:xfrm>
            <a:off x="838200" y="1825625"/>
            <a:ext cx="10515600" cy="4351338"/>
          </a:xfrm>
        </p:spPr>
        <p:txBody>
          <a:bodyPr>
            <a:normAutofit/>
          </a:bodyPr>
          <a:lstStyle/>
          <a:p>
            <a:endParaRPr lang="es-MX" sz="1300"/>
          </a:p>
          <a:p>
            <a:pPr marL="0" indent="0">
              <a:buNone/>
            </a:pPr>
            <a:r>
              <a:rPr lang="es-MX" sz="1300"/>
              <a:t> Las clases se declaran mediante la palabra clave </a:t>
            </a:r>
            <a:r>
              <a:rPr lang="es-MX" sz="1300" err="1"/>
              <a:t>class</a:t>
            </a:r>
            <a:r>
              <a:rPr lang="es-MX" sz="1300"/>
              <a:t> seguida por un identificador único, como se muestra en el siguiente ejemplo: </a:t>
            </a:r>
          </a:p>
          <a:p>
            <a:pPr marL="457200" lvl="1" indent="0">
              <a:buNone/>
            </a:pPr>
            <a:r>
              <a:rPr lang="es-MX" sz="1300"/>
              <a:t>//[</a:t>
            </a:r>
            <a:r>
              <a:rPr lang="es-MX" sz="1300" err="1"/>
              <a:t>access</a:t>
            </a:r>
            <a:r>
              <a:rPr lang="es-MX" sz="1300"/>
              <a:t> </a:t>
            </a:r>
            <a:r>
              <a:rPr lang="es-MX" sz="1300" err="1"/>
              <a:t>modifier</a:t>
            </a:r>
            <a:r>
              <a:rPr lang="es-MX" sz="1300"/>
              <a:t>] - [</a:t>
            </a:r>
            <a:r>
              <a:rPr lang="es-MX" sz="1300" err="1"/>
              <a:t>class</a:t>
            </a:r>
            <a:r>
              <a:rPr lang="es-MX" sz="1300"/>
              <a:t>] - [</a:t>
            </a:r>
            <a:r>
              <a:rPr lang="es-MX" sz="1300" err="1"/>
              <a:t>identifier</a:t>
            </a:r>
            <a:r>
              <a:rPr lang="es-MX" sz="1300"/>
              <a:t>] </a:t>
            </a:r>
          </a:p>
          <a:p>
            <a:pPr marL="457200" lvl="1" indent="0">
              <a:buNone/>
            </a:pPr>
            <a:r>
              <a:rPr lang="es-MX" sz="1300" err="1"/>
              <a:t>public</a:t>
            </a:r>
            <a:r>
              <a:rPr lang="es-MX" sz="1300"/>
              <a:t> </a:t>
            </a:r>
            <a:r>
              <a:rPr lang="es-MX" sz="1300" err="1"/>
              <a:t>class</a:t>
            </a:r>
            <a:r>
              <a:rPr lang="es-MX" sz="1300"/>
              <a:t> </a:t>
            </a:r>
            <a:r>
              <a:rPr lang="es-MX" sz="1300" err="1"/>
              <a:t>Customer</a:t>
            </a:r>
            <a:r>
              <a:rPr lang="es-MX" sz="1300"/>
              <a:t> </a:t>
            </a:r>
          </a:p>
          <a:p>
            <a:pPr marL="457200" lvl="1" indent="0">
              <a:buNone/>
            </a:pPr>
            <a:r>
              <a:rPr lang="es-MX" sz="1300"/>
              <a:t>{ </a:t>
            </a:r>
          </a:p>
          <a:p>
            <a:pPr marL="457200" lvl="1" indent="0">
              <a:buNone/>
            </a:pPr>
            <a:r>
              <a:rPr lang="en-US" sz="1300"/>
              <a:t>// Fields, properties, methods and events go here... </a:t>
            </a:r>
          </a:p>
          <a:p>
            <a:pPr marL="457200" lvl="1" indent="0">
              <a:buNone/>
            </a:pPr>
            <a:r>
              <a:rPr lang="es-MX" sz="1300"/>
              <a:t>} </a:t>
            </a:r>
          </a:p>
          <a:p>
            <a:pPr marL="0" indent="0">
              <a:buNone/>
            </a:pPr>
            <a:r>
              <a:rPr lang="es-MX" sz="1300"/>
              <a:t>La palabra clave </a:t>
            </a:r>
            <a:r>
              <a:rPr lang="es-MX" sz="1300" err="1"/>
              <a:t>class</a:t>
            </a:r>
            <a:r>
              <a:rPr lang="es-MX" sz="1300"/>
              <a:t> va precedida del nivel de acceso. Como en este caso se usa </a:t>
            </a:r>
            <a:r>
              <a:rPr lang="es-MX" sz="1300" err="1"/>
              <a:t>public</a:t>
            </a:r>
            <a:r>
              <a:rPr lang="es-MX" sz="1300"/>
              <a:t>, cualquier usuario puede crear instancias de esta clase. El nombre de la clase sigue a la palabra clave </a:t>
            </a:r>
            <a:r>
              <a:rPr lang="es-MX" sz="1300" err="1"/>
              <a:t>class</a:t>
            </a:r>
            <a:r>
              <a:rPr lang="es-MX" sz="1300"/>
              <a:t>. El nombre de la clase debe ser un nombre de identificador de C# válido. El resto de la definición es el cuerpo de la clase, donde se definen los datos y el comportamiento. Los campos, las propiedades, los métodos y los eventos de una clase se denominan de manera colectiva </a:t>
            </a:r>
            <a:r>
              <a:rPr lang="es-MX" sz="1300" i="1"/>
              <a:t>miembros de clase</a:t>
            </a:r>
            <a:r>
              <a:rPr lang="es-MX" sz="1300"/>
              <a:t>. </a:t>
            </a:r>
          </a:p>
        </p:txBody>
      </p:sp>
    </p:spTree>
    <p:extLst>
      <p:ext uri="{BB962C8B-B14F-4D97-AF65-F5344CB8AC3E}">
        <p14:creationId xmlns:p14="http://schemas.microsoft.com/office/powerpoint/2010/main" val="4279681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B2B3A-3EF3-DB7D-0088-15AA85C32180}"/>
              </a:ext>
            </a:extLst>
          </p:cNvPr>
          <p:cNvSpPr>
            <a:spLocks noGrp="1"/>
          </p:cNvSpPr>
          <p:nvPr>
            <p:ph type="title"/>
          </p:nvPr>
        </p:nvSpPr>
        <p:spPr/>
        <p:txBody>
          <a:bodyPr/>
          <a:lstStyle/>
          <a:p>
            <a:r>
              <a:rPr lang="es-MX" b="1" dirty="0"/>
              <a:t>Creación de objetos </a:t>
            </a:r>
            <a:endParaRPr lang="es-MX" dirty="0"/>
          </a:p>
        </p:txBody>
      </p:sp>
      <p:sp>
        <p:nvSpPr>
          <p:cNvPr id="3" name="Marcador de contenido 2">
            <a:extLst>
              <a:ext uri="{FF2B5EF4-FFF2-40B4-BE49-F238E27FC236}">
                <a16:creationId xmlns:a16="http://schemas.microsoft.com/office/drawing/2014/main" id="{45169D8A-4809-6D7E-A92E-554F8C92F2D6}"/>
              </a:ext>
            </a:extLst>
          </p:cNvPr>
          <p:cNvSpPr>
            <a:spLocks noGrp="1"/>
          </p:cNvSpPr>
          <p:nvPr>
            <p:ph idx="1"/>
          </p:nvPr>
        </p:nvSpPr>
        <p:spPr/>
        <p:txBody>
          <a:bodyPr/>
          <a:lstStyle/>
          <a:p>
            <a:r>
              <a:rPr lang="es-MX" dirty="0"/>
              <a:t>Aunque a veces se usan indistintamente, una clase y un objeto son cosas diferentes. Una clase define un tipo de objeto, pero no es un objeto en sí. Un objeto es una entidad concreta basada en una clase y, a veces, se conoce como una instancia de una clase. </a:t>
            </a:r>
          </a:p>
          <a:p>
            <a:r>
              <a:rPr lang="es-MX" dirty="0"/>
              <a:t>Los objetos se pueden crear usando la palabra clave new, seguida del nombre de la clase en la que se basará el objeto, como en este ejemplo: </a:t>
            </a:r>
          </a:p>
          <a:p>
            <a:r>
              <a:rPr lang="es-MX" dirty="0" err="1"/>
              <a:t>Customer</a:t>
            </a:r>
            <a:r>
              <a:rPr lang="es-MX" dirty="0"/>
              <a:t> object1 = new </a:t>
            </a:r>
            <a:r>
              <a:rPr lang="es-MX" dirty="0" err="1"/>
              <a:t>Customer</a:t>
            </a:r>
            <a:r>
              <a:rPr lang="es-MX" dirty="0"/>
              <a:t>(); </a:t>
            </a:r>
          </a:p>
        </p:txBody>
      </p:sp>
    </p:spTree>
    <p:extLst>
      <p:ext uri="{BB962C8B-B14F-4D97-AF65-F5344CB8AC3E}">
        <p14:creationId xmlns:p14="http://schemas.microsoft.com/office/powerpoint/2010/main" val="1828824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C04E004D-3106-9F0E-52B8-6F4C55A059E1}"/>
              </a:ext>
            </a:extLst>
          </p:cNvPr>
          <p:cNvSpPr>
            <a:spLocks noGrp="1"/>
          </p:cNvSpPr>
          <p:nvPr>
            <p:ph type="title"/>
          </p:nvPr>
        </p:nvSpPr>
        <p:spPr>
          <a:xfrm>
            <a:off x="838200" y="365125"/>
            <a:ext cx="10515600" cy="1325563"/>
          </a:xfrm>
        </p:spPr>
        <p:txBody>
          <a:bodyPr>
            <a:normAutofit/>
          </a:bodyPr>
          <a:lstStyle/>
          <a:p>
            <a:endParaRPr lang="es-MX"/>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EE1AB71B-F1C6-2CC6-3D99-BB507130423E}"/>
              </a:ext>
            </a:extLst>
          </p:cNvPr>
          <p:cNvSpPr>
            <a:spLocks noGrp="1"/>
          </p:cNvSpPr>
          <p:nvPr>
            <p:ph idx="1"/>
          </p:nvPr>
        </p:nvSpPr>
        <p:spPr>
          <a:xfrm>
            <a:off x="838200" y="1825625"/>
            <a:ext cx="10515600" cy="4351338"/>
          </a:xfrm>
        </p:spPr>
        <p:txBody>
          <a:bodyPr>
            <a:normAutofit/>
          </a:bodyPr>
          <a:lstStyle/>
          <a:p>
            <a:r>
              <a:rPr lang="es-MX" dirty="0"/>
              <a:t>Cuando se crea una instancia de una clase, se vuelve a pasar al programador una referencia al objeto. En el ejemplo anterior, object1 es una referencia a un objeto que se basa en </a:t>
            </a:r>
            <a:r>
              <a:rPr lang="es-MX" dirty="0" err="1"/>
              <a:t>Customer</a:t>
            </a:r>
            <a:r>
              <a:rPr lang="es-MX" dirty="0"/>
              <a:t>. Esta referencia apunta al objeto nuevo, pero no contiene los datos del objeto. De hecho, puede crear una referencia de objeto sin tener que crear ningún objeto: </a:t>
            </a:r>
          </a:p>
          <a:p>
            <a:r>
              <a:rPr lang="es-MX" dirty="0" err="1"/>
              <a:t>Customer</a:t>
            </a:r>
            <a:r>
              <a:rPr lang="es-MX" dirty="0"/>
              <a:t> object2; </a:t>
            </a:r>
          </a:p>
        </p:txBody>
      </p:sp>
    </p:spTree>
    <p:extLst>
      <p:ext uri="{BB962C8B-B14F-4D97-AF65-F5344CB8AC3E}">
        <p14:creationId xmlns:p14="http://schemas.microsoft.com/office/powerpoint/2010/main" val="1977668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24D9A0CE-883C-E47D-0A92-E9C0843AA32B}"/>
              </a:ext>
            </a:extLst>
          </p:cNvPr>
          <p:cNvSpPr>
            <a:spLocks noGrp="1"/>
          </p:cNvSpPr>
          <p:nvPr>
            <p:ph type="title"/>
          </p:nvPr>
        </p:nvSpPr>
        <p:spPr>
          <a:xfrm>
            <a:off x="838200" y="365125"/>
            <a:ext cx="10515600" cy="1325563"/>
          </a:xfrm>
        </p:spPr>
        <p:txBody>
          <a:bodyPr>
            <a:normAutofit/>
          </a:bodyPr>
          <a:lstStyle/>
          <a:p>
            <a:endParaRPr lang="es-MX"/>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786685E1-CD2A-2354-BEED-E8DEE1218432}"/>
              </a:ext>
            </a:extLst>
          </p:cNvPr>
          <p:cNvSpPr>
            <a:spLocks noGrp="1"/>
          </p:cNvSpPr>
          <p:nvPr>
            <p:ph idx="1"/>
          </p:nvPr>
        </p:nvSpPr>
        <p:spPr>
          <a:xfrm>
            <a:off x="838200" y="1825625"/>
            <a:ext cx="10515600" cy="4351338"/>
          </a:xfrm>
        </p:spPr>
        <p:txBody>
          <a:bodyPr>
            <a:normAutofit/>
          </a:bodyPr>
          <a:lstStyle/>
          <a:p>
            <a:pPr marL="0" indent="0">
              <a:buNone/>
            </a:pPr>
            <a:r>
              <a:rPr lang="es-MX" sz="1400"/>
              <a:t>No se recomienda crear referencias de objeto como esta, que no hace referencia a ningún objeto, ya que, si se intenta obtener acceso a un objeto a través de este tipo de referencia, se producirá un error en tiempo de ejecución. Pero dicha referencia puede haberse creado para hacer referencia a un objeto, ya sea creando un nuevo objeto o asignándola a un objeto existente, como en el siguiente ejemplo: </a:t>
            </a:r>
          </a:p>
          <a:p>
            <a:pPr marL="457200" lvl="1" indent="0">
              <a:buNone/>
            </a:pPr>
            <a:endParaRPr lang="es-MX" sz="1400"/>
          </a:p>
          <a:p>
            <a:pPr marL="457200" lvl="1" indent="0">
              <a:buNone/>
            </a:pPr>
            <a:r>
              <a:rPr lang="es-MX" sz="1400" err="1"/>
              <a:t>Customer</a:t>
            </a:r>
            <a:r>
              <a:rPr lang="es-MX" sz="1400"/>
              <a:t> object3 = new </a:t>
            </a:r>
            <a:r>
              <a:rPr lang="es-MX" sz="1400" err="1"/>
              <a:t>Customer</a:t>
            </a:r>
            <a:r>
              <a:rPr lang="es-MX" sz="1400"/>
              <a:t>(); </a:t>
            </a:r>
          </a:p>
          <a:p>
            <a:pPr marL="457200" lvl="1" indent="0">
              <a:buNone/>
            </a:pPr>
            <a:r>
              <a:rPr lang="es-MX" sz="1400" err="1"/>
              <a:t>Customer</a:t>
            </a:r>
            <a:r>
              <a:rPr lang="es-MX" sz="1400"/>
              <a:t> object4 = object3; </a:t>
            </a:r>
          </a:p>
          <a:p>
            <a:pPr marL="0" indent="0">
              <a:buNone/>
            </a:pPr>
            <a:endParaRPr lang="es-MX" sz="1400"/>
          </a:p>
          <a:p>
            <a:pPr marL="0" indent="0">
              <a:buNone/>
            </a:pPr>
            <a:r>
              <a:rPr lang="es-MX" sz="1400"/>
              <a:t>Este código crea dos referencias de objeto que hacen referencia al mismo objeto. Por lo tanto, los cambios efectuados en el objeto mediante object3 se reflejan en los usos posteriores de object4. Dado que los objetos basados en clases se tratan por referencia, las clases se denominan "tipos de referencia". </a:t>
            </a:r>
          </a:p>
        </p:txBody>
      </p:sp>
    </p:spTree>
    <p:extLst>
      <p:ext uri="{BB962C8B-B14F-4D97-AF65-F5344CB8AC3E}">
        <p14:creationId xmlns:p14="http://schemas.microsoft.com/office/powerpoint/2010/main" val="209364682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681</Words>
  <Application>Microsoft Office PowerPoint</Application>
  <PresentationFormat>Panorámica</PresentationFormat>
  <Paragraphs>31</Paragraphs>
  <Slides>6</Slides>
  <Notes>0</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Aptos</vt:lpstr>
      <vt:lpstr>Aptos Display</vt:lpstr>
      <vt:lpstr>Arial</vt:lpstr>
      <vt:lpstr>Tema de Office</vt:lpstr>
      <vt:lpstr>CLASES Y OBJETOS</vt:lpstr>
      <vt:lpstr>  Clases </vt:lpstr>
      <vt:lpstr>  Declarar clases </vt:lpstr>
      <vt:lpstr>Creación de objetos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Fabian G T</dc:creator>
  <cp:lastModifiedBy>Fabian G T</cp:lastModifiedBy>
  <cp:revision>2</cp:revision>
  <dcterms:created xsi:type="dcterms:W3CDTF">2026-09-19T05:29:49Z</dcterms:created>
  <dcterms:modified xsi:type="dcterms:W3CDTF">2026-09-20T03:19:55Z</dcterms:modified>
</cp:coreProperties>
</file>