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328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9" r:id="rId24"/>
    <p:sldId id="300" r:id="rId25"/>
    <p:sldId id="329" r:id="rId26"/>
    <p:sldId id="301" r:id="rId27"/>
    <p:sldId id="302" r:id="rId28"/>
    <p:sldId id="303" r:id="rId29"/>
    <p:sldId id="297" r:id="rId30"/>
    <p:sldId id="298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2" r:id="rId49"/>
    <p:sldId id="321" r:id="rId50"/>
    <p:sldId id="323" r:id="rId51"/>
    <p:sldId id="324" r:id="rId52"/>
    <p:sldId id="325" r:id="rId53"/>
    <p:sldId id="326" r:id="rId54"/>
    <p:sldId id="327" r:id="rId55"/>
    <p:sldId id="330" r:id="rId56"/>
    <p:sldId id="331" r:id="rId57"/>
    <p:sldId id="333" r:id="rId58"/>
    <p:sldId id="334" r:id="rId59"/>
    <p:sldId id="335" r:id="rId60"/>
    <p:sldId id="336" r:id="rId61"/>
    <p:sldId id="332" r:id="rId62"/>
    <p:sldId id="337" r:id="rId63"/>
    <p:sldId id="338" r:id="rId64"/>
    <p:sldId id="339" r:id="rId65"/>
    <p:sldId id="340" r:id="rId66"/>
    <p:sldId id="341" r:id="rId67"/>
    <p:sldId id="342" r:id="rId68"/>
    <p:sldId id="343" r:id="rId69"/>
    <p:sldId id="344" r:id="rId70"/>
    <p:sldId id="345" r:id="rId71"/>
    <p:sldId id="346" r:id="rId72"/>
    <p:sldId id="347" r:id="rId73"/>
    <p:sldId id="348" r:id="rId74"/>
    <p:sldId id="349" r:id="rId75"/>
    <p:sldId id="350" r:id="rId7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85C1796-0B20-4388-97FC-8DCE89BDDDB0}">
          <p14:sldIdLst>
            <p14:sldId id="276"/>
            <p14:sldId id="328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9"/>
            <p14:sldId id="300"/>
            <p14:sldId id="329"/>
            <p14:sldId id="301"/>
            <p14:sldId id="302"/>
            <p14:sldId id="303"/>
            <p14:sldId id="297"/>
            <p14:sldId id="298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2"/>
            <p14:sldId id="321"/>
            <p14:sldId id="323"/>
            <p14:sldId id="324"/>
            <p14:sldId id="325"/>
            <p14:sldId id="326"/>
            <p14:sldId id="327"/>
            <p14:sldId id="330"/>
            <p14:sldId id="331"/>
            <p14:sldId id="333"/>
            <p14:sldId id="334"/>
            <p14:sldId id="335"/>
            <p14:sldId id="336"/>
            <p14:sldId id="332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Sección sin título" id="{4FB46F83-9302-4FF1-A414-B588626B197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E6188-456C-1C1E-5B04-7A0813C54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857C85-80A8-6AD6-7B5E-0487CFCB4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BF18CD-12F3-9A09-CDA9-ED542667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AD2346-67A8-8AA4-052D-DF6B2898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1E89B0-7F54-8423-C826-3D8E9037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4340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5B915-CDBD-BD4E-3EBB-81714524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923CE3-84DB-3D88-1D99-B10ACBD14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E942F5-40C0-1F0A-D54D-4420A26C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173DB7-8AED-2947-B36C-F7EE3826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197E05-ED5C-71F2-0C7C-1265D320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4278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5D01B-A6D5-6CCF-0236-0C7CE3CE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D505D3-32EA-359F-5980-7DEEFA635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7A70C1-F563-A293-87C8-664E3103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7142B3-B1AB-457D-2DED-43DA2680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1DD5D3-6E28-982F-93C3-900C6D40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7101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1DE8D-8A7B-3D05-FBF9-BFC6A8CF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CB27AD-1E8B-EFA1-1649-7D48363AC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CF1DF8-F737-86A1-6EA3-168CA7670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9FCD6E-BE9E-A9E4-3BDC-7647074B4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743BA0-C75F-5EB2-C9CA-4BA2592D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F7F7CA-70D4-595E-D05A-62029411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139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0C312-EFBE-7B3A-494F-25FF144B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8ABC62-7CB2-631D-4EA0-08091631F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E9D0E6-992A-701F-AE03-EBA01DE59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D3B4F1-80BA-0C0D-DB50-9857BB783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9C920D-A67B-D396-0BD7-5A64A270B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F8479E-239F-C76B-A060-6663E627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8B5C88-92A1-6C9C-14F4-43982C1E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259C5C9-B870-25DC-828A-0EB49AEF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8294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2FEC4-624F-0838-96C7-1035B25F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F85EF0-40E3-EFFC-939D-F00285EC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4F9C48-7508-7672-D491-5493ABE9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C13DBA-49AD-F581-ABA7-C3808BA8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381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35B113-4ED9-8A68-02E3-1C439788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8883E90-F5A5-9B82-726D-FAFED709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BE9C92-AC92-3DF6-76D0-ADAC2ED82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4602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50EE8-F95F-E0DB-E376-DE1A7639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41D2B9-E41D-BC2A-8BA1-85AFC262E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8E154B-4E47-05BD-6143-DDE9C77B5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2DFE58-D421-BD74-6C04-E654EDBC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D9D723-F5B8-1FC8-D4B8-992C658A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B52F59-97DA-C7A3-0883-796F5B8A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999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A32E5-19C4-971E-55A5-9CE57732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C48F21-7001-5FBE-28EF-565C07791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1D2DF9-AC34-CA11-F7BA-BD13D1534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1C58DF-D982-848D-CC33-9FD1010D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B85A46-341E-A3A1-F93B-7E25C804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7F348E-A85C-628D-33A6-4D5D81A5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323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4C8BB-8A78-2CD4-660E-5FAE6978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15D97C-9137-C857-D4C8-2C6A5FAC8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FF44D5-035C-0D22-F446-8B6098FA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EAF667-ED0C-CAB1-2764-B0812312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65E8C-CE46-4B00-3523-C60C90E2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507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01B466-9263-2C1C-392D-B92E2FBC9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C523B8-93D5-A1C8-BFA2-4398A85D7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9993D8-566D-38A5-048A-1FFB128E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39B60D-CA20-96A4-BFF4-D6EDA358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FDE6BC-6A87-2C7B-91E9-E17EC508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354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67A9D6-BBF4-3022-A82A-F27955D9E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2107F5-BDBB-AE57-8471-5B0EE292E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09FD8-5461-3DB4-5E3D-A92CFE01B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10AD4-C5D3-4261-8EAA-3C591D870760}" type="datetimeFigureOut">
              <a:rPr lang="es-MX" smtClean="0"/>
              <a:t>27/09/2026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DA8B87-A9D1-C66C-840A-105E6C258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C72872-B2E4-A93E-7538-F2D0D00D8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D17C5-32CB-49C1-88C4-B7C5B62E4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55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0498C1-2C98-9D0A-6075-4C60B247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INICIAMOS 27 DE </a:t>
            </a:r>
            <a:r>
              <a:rPr lang="en-US" sz="5400" dirty="0">
                <a:solidFill>
                  <a:schemeClr val="bg1"/>
                </a:solidFill>
              </a:rPr>
              <a:t>SEPTIEMBRE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2026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027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8B6C4-D78E-59BC-7E54-E461757D7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API REST</a:t>
            </a:r>
          </a:p>
        </p:txBody>
      </p:sp>
      <p:pic>
        <p:nvPicPr>
          <p:cNvPr id="7" name="Graphic 6" descr="Base de datos">
            <a:extLst>
              <a:ext uri="{FF2B5EF4-FFF2-40B4-BE49-F238E27FC236}">
                <a16:creationId xmlns:a16="http://schemas.microsoft.com/office/drawing/2014/main" id="{9DC23A47-489B-1152-9389-D3AACC39C6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Base de datos">
            <a:extLst>
              <a:ext uri="{FF2B5EF4-FFF2-40B4-BE49-F238E27FC236}">
                <a16:creationId xmlns:a16="http://schemas.microsoft.com/office/drawing/2014/main" id="{133D2365-5E5D-4C2D-AC63-1384112D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02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D5973-3345-9A40-6202-BDA64221A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11"/>
            <a:ext cx="10515600" cy="1325563"/>
          </a:xfrm>
        </p:spPr>
        <p:txBody>
          <a:bodyPr/>
          <a:lstStyle/>
          <a:p>
            <a:r>
              <a:rPr lang="es-MX" dirty="0"/>
              <a:t>Agregando Nuevo Campo a la tabla Productos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48048B4-9062-46FB-0B3D-56FB6DCB9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28" y="1127535"/>
            <a:ext cx="4548273" cy="43513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73EECEE-E729-B281-AB2E-747653342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267" y="1015181"/>
            <a:ext cx="5210175" cy="2743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A6FA80A-B4EA-F10D-29B4-05C16BB89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258" y="3858733"/>
            <a:ext cx="6280542" cy="253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44092-A050-0ACF-23D8-8B00F6CC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INSERTANDO REGISTROS EN LA TABLA PRODUCTOS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44D066-D261-E75D-A369-4660A14F7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VERIFICAMOS QUE ESTEMOS EN LA BASE ACTUAL</a:t>
            </a:r>
          </a:p>
          <a:p>
            <a:r>
              <a:rPr lang="es-MX" dirty="0"/>
              <a:t>DAMOS EN NUEVA CONSULTA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6E1A62-23ED-5AD7-F375-A5F3221EE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26229"/>
            <a:ext cx="4676775" cy="28956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4ACE25C-6020-66E7-452B-27150A9FA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346" y="2811370"/>
            <a:ext cx="4855970" cy="336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6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530E2-FDE7-2D39-9C89-E2A4D7D52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325AF4-CEBF-DF87-3E9D-4B5AF04C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2F8957-03E5-829B-3A16-5C7BF7A30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56" y="365125"/>
            <a:ext cx="6457950" cy="18192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6B0329-E6ED-2095-198F-19EC5259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83" y="2850383"/>
            <a:ext cx="4019550" cy="1981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8AD7696-D6E1-3C10-A33E-59ACCAF10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202" y="2939256"/>
            <a:ext cx="685800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7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E12811-D175-8BE7-6C99-019DC0BD0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MX" sz="2800"/>
              <a:t>REALIZAMOS UNA CONSULTA E INSERTAMOS UNOS REGISTROS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30B0F9-6945-577B-BEF6-068CDB1C8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783" y="2023658"/>
            <a:ext cx="5040285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2000" dirty="0"/>
              <a:t>1.- LA VISTA QUE TENEMOS DECLARADA AHORA LA PASAMOS A LA BASE DE DATOS</a:t>
            </a:r>
          </a:p>
          <a:p>
            <a:pPr marL="0" indent="0">
              <a:buNone/>
            </a:pPr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DBF4C2-E55F-10F2-3CF3-ECD25009F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869" y="1235947"/>
            <a:ext cx="4416071" cy="29477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F4F8B4D-5DC7-C976-7470-9B4C7DD1E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36" y="4053376"/>
            <a:ext cx="10919136" cy="207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0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9CEC-4CF4-7EB5-CF88-90D8CA9A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Comprobomos</a:t>
            </a:r>
            <a:r>
              <a:rPr lang="es-MX" dirty="0"/>
              <a:t> los registros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9A61C7-6F84-36DF-1E38-DF386564E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9BC92C-C16A-EC54-95AC-7CA013E48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42" y="2430550"/>
            <a:ext cx="10818255" cy="155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2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1A1D4-0591-572E-D73A-C48B73292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una API REST en .NET Core?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251CEB-B20D-801C-6419-DCF9D35AA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Una </a:t>
            </a:r>
            <a:r>
              <a:rPr lang="es-ES" b="1" dirty="0"/>
              <a:t>API REST en .NET Core</a:t>
            </a:r>
            <a:r>
              <a:rPr lang="es-ES" dirty="0"/>
              <a:t> es como un </a:t>
            </a:r>
            <a:r>
              <a:rPr lang="es-ES" b="1" dirty="0"/>
              <a:t>puente</a:t>
            </a:r>
            <a:r>
              <a:rPr lang="es-ES" dirty="0"/>
              <a:t> que permite que una aplicación hable con otra.</a:t>
            </a:r>
            <a:endParaRPr lang="es-ES" b="1" dirty="0"/>
          </a:p>
          <a:p>
            <a:r>
              <a:rPr lang="es-ES" dirty="0"/>
              <a:t>Imaginemos que tenemos una app (por ejemplo, angular , página web o algún otro </a:t>
            </a:r>
            <a:r>
              <a:rPr lang="es-ES" dirty="0" err="1"/>
              <a:t>framework</a:t>
            </a:r>
            <a:r>
              <a:rPr lang="es-ES" dirty="0"/>
              <a:t>)</a:t>
            </a:r>
          </a:p>
          <a:p>
            <a:pPr marL="0" indent="0">
              <a:buNone/>
            </a:pPr>
            <a:br>
              <a:rPr lang="es-ES" dirty="0"/>
            </a:br>
            <a:r>
              <a:rPr lang="es-ES" dirty="0"/>
              <a:t>👉 pero los datos (usuarios, productos, etc.) están en otro lugar (servidor)</a:t>
            </a:r>
          </a:p>
          <a:p>
            <a:r>
              <a:rPr lang="es-ES" dirty="0"/>
              <a:t>Entonces necesitamos algo que diga:</a:t>
            </a:r>
          </a:p>
          <a:p>
            <a:r>
              <a:rPr lang="es-ES" dirty="0"/>
              <a:t>“dame los usuarios” </a:t>
            </a:r>
          </a:p>
          <a:p>
            <a:r>
              <a:rPr lang="es-ES" dirty="0"/>
              <a:t>“guarda este usuario” </a:t>
            </a:r>
          </a:p>
          <a:p>
            <a:r>
              <a:rPr lang="es-ES" dirty="0"/>
              <a:t>👉 Ese “algo” es la </a:t>
            </a:r>
            <a:r>
              <a:rPr lang="es-ES" b="1" dirty="0"/>
              <a:t>API REST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6993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0AC84-3FBE-808E-E667-8ABD5A81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312ABE-143D-B82F-F7D8-A98335D95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/>
              <a:t>🍔 Ejemplo fácil (como restaurante)</a:t>
            </a:r>
          </a:p>
          <a:p>
            <a:r>
              <a:rPr lang="es-ES" dirty="0"/>
              <a:t>Tú (app) → haces pedido </a:t>
            </a:r>
          </a:p>
          <a:p>
            <a:r>
              <a:rPr lang="es-ES" dirty="0"/>
              <a:t>API → recibe el pedido </a:t>
            </a:r>
          </a:p>
          <a:p>
            <a:r>
              <a:rPr lang="es-ES" dirty="0"/>
              <a:t>Cocina (servidor/base de datos) → prepara la </a:t>
            </a:r>
            <a:r>
              <a:rPr lang="es-ES" dirty="0" err="1"/>
              <a:t>info</a:t>
            </a:r>
            <a:r>
              <a:rPr lang="es-ES" dirty="0"/>
              <a:t> </a:t>
            </a:r>
          </a:p>
          <a:p>
            <a:r>
              <a:rPr lang="es-ES" dirty="0"/>
              <a:t>API → te devuelve la respuesta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9554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FF2E8-F307-3A54-9D57-241117C6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hace?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5E26C4-9402-B14A-1777-0B8EF794D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Permite hacer 4 cosas básicas:</a:t>
            </a:r>
          </a:p>
          <a:p>
            <a:r>
              <a:rPr lang="es-ES" dirty="0"/>
              <a:t>📥 </a:t>
            </a:r>
            <a:r>
              <a:rPr lang="es-ES" b="1" dirty="0"/>
              <a:t>Obtener datos</a:t>
            </a:r>
            <a:r>
              <a:rPr lang="es-ES" dirty="0"/>
              <a:t> → ver usuarios </a:t>
            </a:r>
          </a:p>
          <a:p>
            <a:r>
              <a:rPr lang="es-ES" dirty="0"/>
              <a:t>➕ </a:t>
            </a:r>
            <a:r>
              <a:rPr lang="es-ES" b="1" dirty="0"/>
              <a:t>Crear datos</a:t>
            </a:r>
            <a:r>
              <a:rPr lang="es-ES" dirty="0"/>
              <a:t> → agregar usuario </a:t>
            </a:r>
          </a:p>
          <a:p>
            <a:r>
              <a:rPr lang="es-ES" dirty="0"/>
              <a:t>✏️ </a:t>
            </a:r>
            <a:r>
              <a:rPr lang="es-ES" b="1" dirty="0"/>
              <a:t>Editar datos</a:t>
            </a:r>
            <a:r>
              <a:rPr lang="es-ES" dirty="0"/>
              <a:t> → cambiar usuario </a:t>
            </a:r>
          </a:p>
          <a:p>
            <a:r>
              <a:rPr lang="es-ES" dirty="0"/>
              <a:t>❌ </a:t>
            </a:r>
            <a:r>
              <a:rPr lang="es-ES" b="1" dirty="0"/>
              <a:t>Eliminar datos</a:t>
            </a:r>
            <a:r>
              <a:rPr lang="es-ES" dirty="0"/>
              <a:t> → borrar usuario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7309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28021-8A28-C25F-1669-9AC3960A0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real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F2453C-628B-5B58-FD33-8A9D78CB1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Tu app pide:</a:t>
            </a:r>
            <a:br>
              <a:rPr lang="es-ES" dirty="0"/>
            </a:br>
            <a:r>
              <a:rPr lang="es-ES" dirty="0"/>
              <a:t>👉 “Dame los usuarios”</a:t>
            </a:r>
          </a:p>
          <a:p>
            <a:r>
              <a:rPr lang="es-ES" dirty="0"/>
              <a:t>La API responde:</a:t>
            </a:r>
            <a:endParaRPr lang="es-MX" dirty="0"/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4E4A12-0EBD-6C30-815E-49ED96F73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31527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17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A1C49-8A3F-730E-333C-E0EB58FA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¿Por qué en .NET Core?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CC1208-93AE-3BCF-E14F-2D5B9B089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Porque </a:t>
            </a:r>
            <a:r>
              <a:rPr lang="es-ES" b="1" dirty="0"/>
              <a:t>.NET Core</a:t>
            </a:r>
            <a:r>
              <a:rPr lang="es-ES" dirty="0"/>
              <a:t> sirve para crear esa API fácilmente:</a:t>
            </a:r>
          </a:p>
          <a:p>
            <a:r>
              <a:rPr lang="es-ES" dirty="0"/>
              <a:t>Maneja datos </a:t>
            </a:r>
          </a:p>
          <a:p>
            <a:r>
              <a:rPr lang="es-ES" dirty="0"/>
              <a:t>Recibe peticiones </a:t>
            </a:r>
          </a:p>
          <a:p>
            <a:r>
              <a:rPr lang="es-ES" dirty="0"/>
              <a:t>Envía respuestas</a:t>
            </a:r>
          </a:p>
          <a:p>
            <a:r>
              <a:rPr lang="es-ES" dirty="0"/>
              <a:t>👉 Una API REST en .NET Core es:</a:t>
            </a:r>
            <a:br>
              <a:rPr lang="es-ES" dirty="0"/>
            </a:br>
            <a:r>
              <a:rPr lang="es-ES" b="1" dirty="0"/>
              <a:t>un servicio que recibe peticiones y devuelve datos para que otras aplicaciones funcionen</a:t>
            </a:r>
            <a:br>
              <a:rPr lang="es-ES" dirty="0"/>
            </a:br>
            <a:endParaRPr lang="es-ES" dirty="0"/>
          </a:p>
          <a:p>
            <a:r>
              <a:rPr lang="es-ES" b="1" dirty="0"/>
              <a:t>💡 Ejemplo ultra simple</a:t>
            </a:r>
          </a:p>
          <a:p>
            <a:r>
              <a:rPr lang="es-ES" dirty="0"/>
              <a:t>Botón en tu app: “Ver usuarios” </a:t>
            </a:r>
          </a:p>
          <a:p>
            <a:r>
              <a:rPr lang="es-ES" dirty="0"/>
              <a:t>Ese botón llama a la API </a:t>
            </a:r>
          </a:p>
          <a:p>
            <a:r>
              <a:rPr lang="es-ES" dirty="0"/>
              <a:t>La API responde con los usuarios </a:t>
            </a:r>
          </a:p>
          <a:p>
            <a:r>
              <a:rPr lang="es-ES" dirty="0"/>
              <a:t>La app los muestra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6749F2-8811-BD81-887D-44FD974CF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5024501"/>
            <a:ext cx="52959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28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0FCE5-102D-B245-E757-18CC02DC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QUE ES UNA API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0EF512-FF21-0962-B85C-000745FB4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Una </a:t>
            </a:r>
            <a:r>
              <a:rPr lang="es-ES" b="1" dirty="0"/>
              <a:t>API</a:t>
            </a:r>
            <a:r>
              <a:rPr lang="es-ES" dirty="0"/>
              <a:t> (siglas de </a:t>
            </a:r>
            <a:r>
              <a:rPr lang="es-ES" i="1" dirty="0" err="1"/>
              <a:t>Application</a:t>
            </a:r>
            <a:r>
              <a:rPr lang="es-ES" i="1" dirty="0"/>
              <a:t> </a:t>
            </a:r>
            <a:r>
              <a:rPr lang="es-ES" i="1" dirty="0" err="1"/>
              <a:t>Programming</a:t>
            </a:r>
            <a:r>
              <a:rPr lang="es-ES" i="1" dirty="0"/>
              <a:t> Interface</a:t>
            </a:r>
            <a:r>
              <a:rPr lang="es-ES" dirty="0"/>
              <a:t>, o </a:t>
            </a:r>
            <a:r>
              <a:rPr lang="es-ES" i="1" dirty="0"/>
              <a:t>Interfaz de Programación de Aplicaciones</a:t>
            </a:r>
            <a:r>
              <a:rPr lang="es-ES" dirty="0"/>
              <a:t>) es un conjunto de reglas que permite que diferentes programas o sistemas se comuniquen entre sí.</a:t>
            </a:r>
          </a:p>
          <a:p>
            <a:pPr marL="0" indent="0">
              <a:buNone/>
            </a:pPr>
            <a:r>
              <a:rPr lang="es-ES" b="1" dirty="0"/>
              <a:t>💡 Explicado fácil:</a:t>
            </a:r>
          </a:p>
          <a:p>
            <a:r>
              <a:rPr lang="es-ES" dirty="0"/>
              <a:t>Imagina que una API es como un </a:t>
            </a:r>
            <a:r>
              <a:rPr lang="es-ES" b="1" dirty="0"/>
              <a:t>mesero en un restaurante</a:t>
            </a:r>
            <a:r>
              <a:rPr lang="es-ES" dirty="0"/>
              <a:t>:</a:t>
            </a:r>
          </a:p>
          <a:p>
            <a:r>
              <a:rPr lang="es-ES" dirty="0"/>
              <a:t>Tú (una app) haces un pedido. </a:t>
            </a:r>
          </a:p>
          <a:p>
            <a:r>
              <a:rPr lang="es-ES" dirty="0"/>
              <a:t>El mesero (la API) lleva tu pedido a la cocina (el servidor). </a:t>
            </a:r>
          </a:p>
          <a:p>
            <a:r>
              <a:rPr lang="es-ES" dirty="0"/>
              <a:t>La cocina prepara la comida (procesa la información). </a:t>
            </a:r>
          </a:p>
          <a:p>
            <a:r>
              <a:rPr lang="es-ES" dirty="0"/>
              <a:t>El mesero te trae el resultado.</a:t>
            </a:r>
          </a:p>
        </p:txBody>
      </p:sp>
    </p:spTree>
    <p:extLst>
      <p:ext uri="{BB962C8B-B14F-4D97-AF65-F5344CB8AC3E}">
        <p14:creationId xmlns:p14="http://schemas.microsoft.com/office/powerpoint/2010/main" val="3904502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B2E69-4A8A-F74F-0D40-22701AB9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¿Para qué sirve?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37437-6C08-6A9C-E760-8CDA349C9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Las </a:t>
            </a:r>
            <a:r>
              <a:rPr lang="es-ES" dirty="0" err="1"/>
              <a:t>APIs</a:t>
            </a:r>
            <a:r>
              <a:rPr lang="es-ES" dirty="0"/>
              <a:t> permiten:</a:t>
            </a:r>
          </a:p>
          <a:p>
            <a:r>
              <a:rPr lang="es-ES" dirty="0"/>
              <a:t>Conectar aplicaciones entre sí </a:t>
            </a:r>
          </a:p>
          <a:p>
            <a:r>
              <a:rPr lang="es-ES" dirty="0"/>
              <a:t>Compartir datos de forma segura </a:t>
            </a:r>
          </a:p>
          <a:p>
            <a:r>
              <a:rPr lang="es-ES" dirty="0"/>
              <a:t>Automatizar procesos </a:t>
            </a:r>
          </a:p>
          <a:p>
            <a:pPr marL="0" indent="0">
              <a:buNone/>
            </a:pPr>
            <a:r>
              <a:rPr lang="es-ES" b="1" dirty="0"/>
              <a:t>📱 Ejemplos comunes:</a:t>
            </a:r>
          </a:p>
          <a:p>
            <a:r>
              <a:rPr lang="es-ES" dirty="0"/>
              <a:t>Cuando usas una app del clima, esta usa una API para obtener datos del clima. </a:t>
            </a:r>
          </a:p>
          <a:p>
            <a:r>
              <a:rPr lang="es-ES" dirty="0"/>
              <a:t>Al iniciar sesión con Google o Facebook en otra app, estás usando sus </a:t>
            </a:r>
            <a:r>
              <a:rPr lang="es-ES" dirty="0" err="1"/>
              <a:t>APIs</a:t>
            </a:r>
            <a:r>
              <a:rPr lang="es-ES" dirty="0"/>
              <a:t>. </a:t>
            </a:r>
          </a:p>
          <a:p>
            <a:r>
              <a:rPr lang="es-ES" dirty="0"/>
              <a:t>Apps de mapas usan </a:t>
            </a:r>
            <a:r>
              <a:rPr lang="es-ES" dirty="0" err="1"/>
              <a:t>APIs</a:t>
            </a:r>
            <a:r>
              <a:rPr lang="es-ES" dirty="0"/>
              <a:t> para mostrar ubicaciones y rutas. </a:t>
            </a:r>
          </a:p>
          <a:p>
            <a:pPr marL="0" indent="0">
              <a:buNone/>
            </a:pPr>
            <a:r>
              <a:rPr lang="es-ES" b="1" dirty="0"/>
              <a:t>🔧 Tipos comunes de </a:t>
            </a:r>
            <a:r>
              <a:rPr lang="es-ES" b="1" dirty="0" err="1"/>
              <a:t>APIs</a:t>
            </a:r>
            <a:r>
              <a:rPr lang="es-ES" b="1" dirty="0"/>
              <a:t>:</a:t>
            </a:r>
          </a:p>
          <a:p>
            <a:r>
              <a:rPr lang="es-ES" b="1" dirty="0" err="1"/>
              <a:t>APIs</a:t>
            </a:r>
            <a:r>
              <a:rPr lang="es-ES" b="1" dirty="0"/>
              <a:t> web</a:t>
            </a:r>
            <a:r>
              <a:rPr lang="es-ES" dirty="0"/>
              <a:t>: funcionan a través de internet (las más comunes) </a:t>
            </a:r>
          </a:p>
          <a:p>
            <a:r>
              <a:rPr lang="es-ES" b="1" dirty="0" err="1"/>
              <a:t>APIs</a:t>
            </a:r>
            <a:r>
              <a:rPr lang="es-ES" b="1" dirty="0"/>
              <a:t> de librerías</a:t>
            </a:r>
            <a:r>
              <a:rPr lang="es-ES" dirty="0"/>
              <a:t>: funciones dentro de un software </a:t>
            </a:r>
          </a:p>
          <a:p>
            <a:r>
              <a:rPr lang="es-ES" b="1" dirty="0" err="1"/>
              <a:t>APIs</a:t>
            </a:r>
            <a:r>
              <a:rPr lang="es-ES" b="1" dirty="0"/>
              <a:t> de sistemas operativos</a:t>
            </a:r>
            <a:r>
              <a:rPr lang="es-ES" dirty="0"/>
              <a:t>: permiten interactuar con el sistema (como Android o Windows)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48346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F24D8-151A-93FE-CD9E-0DBFC2BC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13BF3E-FA49-25D6-A068-CF4EE09AE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REST</a:t>
            </a:r>
            <a:r>
              <a:rPr lang="es-ES" dirty="0"/>
              <a:t> (siglas de </a:t>
            </a:r>
            <a:r>
              <a:rPr lang="es-ES" i="1" dirty="0" err="1"/>
              <a:t>Representational</a:t>
            </a:r>
            <a:r>
              <a:rPr lang="es-ES" i="1" dirty="0"/>
              <a:t> </a:t>
            </a:r>
            <a:r>
              <a:rPr lang="es-ES" i="1" dirty="0" err="1"/>
              <a:t>State</a:t>
            </a:r>
            <a:r>
              <a:rPr lang="es-ES" i="1" dirty="0"/>
              <a:t> Transfer</a:t>
            </a:r>
            <a:r>
              <a:rPr lang="es-ES" dirty="0"/>
              <a:t>) es un </a:t>
            </a:r>
            <a:r>
              <a:rPr lang="es-ES" b="1" dirty="0"/>
              <a:t>estilo de arquitectura</a:t>
            </a:r>
            <a:r>
              <a:rPr lang="es-ES" dirty="0"/>
              <a:t> que se usa para diseñar </a:t>
            </a:r>
            <a:r>
              <a:rPr lang="es-ES" dirty="0" err="1"/>
              <a:t>APIs</a:t>
            </a:r>
            <a:r>
              <a:rPr lang="es-ES" dirty="0"/>
              <a:t>, especialmente en la web.</a:t>
            </a:r>
          </a:p>
          <a:p>
            <a:pPr marL="0" indent="0">
              <a:buNone/>
            </a:pPr>
            <a:r>
              <a:rPr lang="es-ES" b="1" dirty="0"/>
              <a:t>💡 Explicado fácil:</a:t>
            </a:r>
          </a:p>
          <a:p>
            <a:r>
              <a:rPr lang="es-ES" dirty="0"/>
              <a:t>REST es una forma organizada de hacer que dos sistemas se comuniquen usando </a:t>
            </a:r>
            <a:r>
              <a:rPr lang="es-ES" b="1" dirty="0"/>
              <a:t>HTTP</a:t>
            </a:r>
            <a:r>
              <a:rPr lang="es-ES" dirty="0"/>
              <a:t> (como cuando navegas en internet).</a:t>
            </a:r>
          </a:p>
          <a:p>
            <a:r>
              <a:rPr lang="es-ES" dirty="0"/>
              <a:t>Piensa en REST como un conjunto de </a:t>
            </a:r>
            <a:r>
              <a:rPr lang="es-ES" b="1" dirty="0"/>
              <a:t>reglas claras</a:t>
            </a:r>
            <a:r>
              <a:rPr lang="es-ES" dirty="0"/>
              <a:t> para pedir y enviar información entre cliente (por ejemplo, una app) y servidor.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1827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A903B-7BF8-EBC9-5DE4-4D59632A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Principios básicos de REST: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02F828-EFC9-370B-C9BC-D93D673F0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10AD11D-65D7-D532-3BA6-9FD1D308F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29" y="1457072"/>
            <a:ext cx="7731031" cy="442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64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5AE82-365A-D055-E800-1D6760CE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Arquitectura REST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F9A3A5-4EE4-1E66-84BB-26E7A3C91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arquitectura REST se basa en cómo organizar la comunicación entre cliente y servidor.</a:t>
            </a:r>
          </a:p>
          <a:p>
            <a:pPr marL="0" indent="0">
              <a:buNone/>
            </a:pPr>
            <a:r>
              <a:rPr lang="es-ES" b="1" dirty="0"/>
              <a:t>🧩 Componentes principales:</a:t>
            </a:r>
          </a:p>
          <a:p>
            <a:pPr marL="0" indent="0">
              <a:buNone/>
            </a:pPr>
            <a:r>
              <a:rPr lang="es-ES" b="1" dirty="0"/>
              <a:t>1. Cliente</a:t>
            </a:r>
          </a:p>
          <a:p>
            <a:r>
              <a:rPr lang="es-ES" dirty="0"/>
              <a:t>Es quien hace la petición</a:t>
            </a:r>
            <a:br>
              <a:rPr lang="es-ES" dirty="0"/>
            </a:br>
            <a:r>
              <a:rPr lang="es-ES" dirty="0"/>
              <a:t>Ejemplos:</a:t>
            </a:r>
          </a:p>
          <a:p>
            <a:r>
              <a:rPr lang="es-ES" dirty="0"/>
              <a:t>Navegador web </a:t>
            </a:r>
          </a:p>
          <a:p>
            <a:r>
              <a:rPr lang="es-ES" dirty="0"/>
              <a:t>App móvil </a:t>
            </a:r>
          </a:p>
          <a:p>
            <a:r>
              <a:rPr lang="es-ES" dirty="0" err="1"/>
              <a:t>Frontend</a:t>
            </a:r>
            <a:r>
              <a:rPr lang="es-ES" dirty="0"/>
              <a:t> (</a:t>
            </a:r>
            <a:r>
              <a:rPr lang="es-ES" dirty="0" err="1"/>
              <a:t>React</a:t>
            </a:r>
            <a:r>
              <a:rPr lang="es-ES" dirty="0"/>
              <a:t>, Angular)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94671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751A8-ABA9-64FD-B149-E02DCF29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0A0181-1699-B6FD-C855-417C30316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2. Servidor</a:t>
            </a:r>
          </a:p>
          <a:p>
            <a:r>
              <a:rPr lang="es-ES" dirty="0"/>
              <a:t>Es quien responde con datos</a:t>
            </a:r>
            <a:br>
              <a:rPr lang="es-ES" dirty="0"/>
            </a:br>
            <a:r>
              <a:rPr lang="es-ES" dirty="0"/>
              <a:t>Ejemplos:</a:t>
            </a:r>
          </a:p>
          <a:p>
            <a:r>
              <a:rPr lang="es-ES" dirty="0" err="1"/>
              <a:t>Backend</a:t>
            </a:r>
            <a:r>
              <a:rPr lang="es-ES" dirty="0"/>
              <a:t> (Node.js, Python, Java)</a:t>
            </a:r>
          </a:p>
          <a:p>
            <a:pPr marL="0" indent="0">
              <a:buNone/>
            </a:pPr>
            <a:r>
              <a:rPr lang="es-ES" b="1" dirty="0"/>
              <a:t>3. Recursos</a:t>
            </a:r>
          </a:p>
          <a:p>
            <a:r>
              <a:rPr lang="es-ES" dirty="0"/>
              <a:t>Son los datos que maneja la API:</a:t>
            </a:r>
          </a:p>
          <a:p>
            <a:r>
              <a:rPr lang="es-ES" dirty="0"/>
              <a:t>usuarios </a:t>
            </a:r>
          </a:p>
          <a:p>
            <a:r>
              <a:rPr lang="es-ES" dirty="0"/>
              <a:t>productos </a:t>
            </a:r>
          </a:p>
          <a:p>
            <a:r>
              <a:rPr lang="es-ES" dirty="0"/>
              <a:t>pedidos</a:t>
            </a:r>
          </a:p>
          <a:p>
            <a:endParaRPr lang="es-ES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6553DC-7FE7-11B6-01BC-7034F43EC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709" y="4874006"/>
            <a:ext cx="34861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39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B7E82-86FF-DFFC-A37D-CDD69B5F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8CF509-58BB-9E32-D934-D2C7B14B7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/>
              <a:t>4. HTTP (el lenguaje)</a:t>
            </a:r>
          </a:p>
          <a:p>
            <a:r>
              <a:rPr lang="es-ES" dirty="0"/>
              <a:t>REST usa el protocolo HTTP para comunicarse.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E9E892-1D32-9A47-3FF8-18A07DEA7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670" y="2913956"/>
            <a:ext cx="8094155" cy="348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14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043B5-D694-3184-4837-FAB16A36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Interfaz en una API REST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C4CE19-C78F-8D6C-CD77-2CFC8DFDC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La </a:t>
            </a:r>
            <a:r>
              <a:rPr lang="es-ES" b="1" dirty="0"/>
              <a:t>interfaz</a:t>
            </a:r>
            <a:r>
              <a:rPr lang="es-ES" dirty="0"/>
              <a:t> es cómo tú interactúas con la API.</a:t>
            </a:r>
          </a:p>
          <a:p>
            <a:r>
              <a:rPr lang="es-ES" b="1" dirty="0"/>
              <a:t>Incluye:</a:t>
            </a:r>
          </a:p>
          <a:p>
            <a:r>
              <a:rPr lang="es-ES" dirty="0" err="1"/>
              <a:t>URLs</a:t>
            </a:r>
            <a:r>
              <a:rPr lang="es-ES" dirty="0"/>
              <a:t> (</a:t>
            </a:r>
            <a:r>
              <a:rPr lang="es-ES" dirty="0" err="1"/>
              <a:t>endpoints</a:t>
            </a:r>
            <a:r>
              <a:rPr lang="es-ES" dirty="0"/>
              <a:t>) </a:t>
            </a:r>
          </a:p>
          <a:p>
            <a:r>
              <a:rPr lang="es-ES" dirty="0"/>
              <a:t>Métodos HTTP </a:t>
            </a:r>
          </a:p>
          <a:p>
            <a:r>
              <a:rPr lang="es-ES" dirty="0"/>
              <a:t>Formato de datos (JSON)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509635-FF35-85DD-22AE-1DCF75991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00" y="4462081"/>
            <a:ext cx="39147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0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20C0D-6595-D598-ED63-E10D898F9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Herramientas para probar </a:t>
            </a:r>
            <a:r>
              <a:rPr lang="es-MX" dirty="0" err="1"/>
              <a:t>APIs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7735A1-2E65-0A69-8E66-CCD9B4DA4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Puedes usar herramientas como:</a:t>
            </a:r>
          </a:p>
          <a:p>
            <a:r>
              <a:rPr lang="es-ES" dirty="0" err="1"/>
              <a:t>Postman</a:t>
            </a:r>
            <a:r>
              <a:rPr lang="es-ES" dirty="0"/>
              <a:t> </a:t>
            </a:r>
          </a:p>
          <a:p>
            <a:r>
              <a:rPr lang="es-ES" dirty="0" err="1"/>
              <a:t>Insomnia</a:t>
            </a:r>
            <a:r>
              <a:rPr lang="es-ES" dirty="0"/>
              <a:t> </a:t>
            </a:r>
          </a:p>
          <a:p>
            <a:r>
              <a:rPr lang="es-ES" dirty="0" err="1"/>
              <a:t>cURL</a:t>
            </a:r>
            <a:endParaRPr lang="es-ES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20376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3B962-558B-7616-5973-6C0101EC1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2345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Cómo funciona paso a paso</a:t>
            </a:r>
          </a:p>
          <a:p>
            <a:r>
              <a:rPr lang="es-ES" dirty="0"/>
              <a:t>Cliente hace petición </a:t>
            </a:r>
          </a:p>
          <a:p>
            <a:r>
              <a:rPr lang="es-ES" dirty="0"/>
              <a:t>API recibe la petición </a:t>
            </a:r>
          </a:p>
          <a:p>
            <a:r>
              <a:rPr lang="es-ES" dirty="0"/>
              <a:t>Servidor procesa </a:t>
            </a:r>
          </a:p>
          <a:p>
            <a:r>
              <a:rPr lang="es-ES" dirty="0"/>
              <a:t>Devuelve respuesta (JSON)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916D94-4053-F08C-4369-E30BC6286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598" y="2861882"/>
            <a:ext cx="90011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8CDCB-2241-C0D2-B9B6-F1A783F38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.NET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FC2AA9-6A23-7E67-4827-AB166BA71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.NET</a:t>
            </a:r>
            <a:r>
              <a:rPr lang="es-ES" dirty="0"/>
              <a:t> es un </a:t>
            </a:r>
            <a:r>
              <a:rPr lang="es-ES" b="1" dirty="0"/>
              <a:t>entorno de desarrollo de Microsoft</a:t>
            </a:r>
            <a:r>
              <a:rPr lang="es-ES" dirty="0"/>
              <a:t>. </a:t>
            </a:r>
          </a:p>
          <a:p>
            <a:r>
              <a:rPr lang="es-ES" dirty="0"/>
              <a:t>Permite crear </a:t>
            </a:r>
            <a:r>
              <a:rPr lang="es-ES" b="1" dirty="0"/>
              <a:t>programas, aplicaciones web, </a:t>
            </a:r>
            <a:r>
              <a:rPr lang="es-ES" b="1" dirty="0" err="1"/>
              <a:t>APIs</a:t>
            </a:r>
            <a:r>
              <a:rPr lang="es-ES" b="1" dirty="0"/>
              <a:t>, apps móviles y más</a:t>
            </a:r>
            <a:r>
              <a:rPr lang="es-ES" dirty="0"/>
              <a:t>. </a:t>
            </a:r>
          </a:p>
          <a:p>
            <a:r>
              <a:rPr lang="es-ES" dirty="0"/>
              <a:t>Funciona como la </a:t>
            </a:r>
            <a:r>
              <a:rPr lang="es-ES" b="1" dirty="0"/>
              <a:t>base o plataforma</a:t>
            </a:r>
            <a:r>
              <a:rPr lang="es-ES" dirty="0"/>
              <a:t> donde todo lo demás corre. </a:t>
            </a:r>
          </a:p>
          <a:p>
            <a:r>
              <a:rPr lang="es-ES" dirty="0"/>
              <a:t>💡 Ejemplo: Es como el terreno y los cimientos de una casa. Sin él, no puedes construir nada.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84126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768EF-E1AF-61FA-C5B5-6FA30E78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C#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39A7EB-F6DD-D57C-5E16-B91EDF5BC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C# (C Sharp)</a:t>
            </a:r>
            <a:r>
              <a:rPr lang="es-ES" dirty="0"/>
              <a:t> es un </a:t>
            </a:r>
            <a:r>
              <a:rPr lang="es-ES" b="1" dirty="0"/>
              <a:t>lenguaje de programación</a:t>
            </a:r>
            <a:r>
              <a:rPr lang="es-ES" dirty="0"/>
              <a:t> que se usa dentro de .NET. </a:t>
            </a:r>
          </a:p>
          <a:p>
            <a:r>
              <a:rPr lang="es-ES" dirty="0"/>
              <a:t>Con C# escribes </a:t>
            </a:r>
            <a:r>
              <a:rPr lang="es-ES" b="1" dirty="0"/>
              <a:t>las instrucciones que la computadora ejecuta</a:t>
            </a:r>
            <a:r>
              <a:rPr lang="es-ES" dirty="0"/>
              <a:t>. </a:t>
            </a:r>
          </a:p>
          <a:p>
            <a:r>
              <a:rPr lang="es-ES" dirty="0"/>
              <a:t>Es moderno, sencillo de leer y muy usado para aplicaciones web y de escritorio. </a:t>
            </a:r>
          </a:p>
          <a:p>
            <a:r>
              <a:rPr lang="es-ES" dirty="0"/>
              <a:t>💡 Ejemplo: C# son los ladrillos y paredes que construyes sobre los cimientos (.NET).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4405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A9BFA-802A-DF22-C1D1-A0B24D2E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C# EXPLICACION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EFDF2-DD1B-5900-005E-40040EE5E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2269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FD80F-0D49-4A8D-C030-601FEFC9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ASP.NET Core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011590-C6B4-4493-C586-20209FA64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ASP.NET Core</a:t>
            </a:r>
            <a:r>
              <a:rPr lang="es-ES" dirty="0"/>
              <a:t> es un </a:t>
            </a:r>
            <a:r>
              <a:rPr lang="es-ES" b="1" dirty="0" err="1"/>
              <a:t>framework</a:t>
            </a:r>
            <a:r>
              <a:rPr lang="es-ES" b="1" dirty="0"/>
              <a:t> dentro de .NET</a:t>
            </a:r>
            <a:r>
              <a:rPr lang="es-ES" dirty="0"/>
              <a:t> para crear aplicaciones </a:t>
            </a:r>
            <a:r>
              <a:rPr lang="es-ES" b="1" dirty="0"/>
              <a:t>web y </a:t>
            </a:r>
            <a:r>
              <a:rPr lang="es-ES" b="1" dirty="0" err="1"/>
              <a:t>APIs</a:t>
            </a:r>
            <a:r>
              <a:rPr lang="es-ES" dirty="0"/>
              <a:t>. </a:t>
            </a:r>
          </a:p>
          <a:p>
            <a:r>
              <a:rPr lang="es-ES" dirty="0"/>
              <a:t>Permite: </a:t>
            </a:r>
          </a:p>
          <a:p>
            <a:pPr lvl="1"/>
            <a:r>
              <a:rPr lang="es-ES" dirty="0"/>
              <a:t>Crear </a:t>
            </a:r>
            <a:r>
              <a:rPr lang="es-ES" b="1" dirty="0"/>
              <a:t>páginas web</a:t>
            </a:r>
            <a:r>
              <a:rPr lang="es-ES" dirty="0"/>
              <a:t> </a:t>
            </a:r>
          </a:p>
          <a:p>
            <a:pPr lvl="1"/>
            <a:r>
              <a:rPr lang="es-ES" dirty="0"/>
              <a:t>Crear </a:t>
            </a:r>
            <a:r>
              <a:rPr lang="es-ES" b="1" dirty="0" err="1"/>
              <a:t>APIs</a:t>
            </a:r>
            <a:r>
              <a:rPr lang="es-ES" b="1" dirty="0"/>
              <a:t> REST</a:t>
            </a:r>
            <a:r>
              <a:rPr lang="es-ES" dirty="0"/>
              <a:t> que otras aplicaciones pueden usar </a:t>
            </a:r>
          </a:p>
          <a:p>
            <a:pPr lvl="1"/>
            <a:r>
              <a:rPr lang="es-ES" dirty="0"/>
              <a:t>Manejar </a:t>
            </a:r>
            <a:r>
              <a:rPr lang="es-ES" b="1" dirty="0"/>
              <a:t>usuarios, bases de datos y lógica de negocio</a:t>
            </a:r>
            <a:r>
              <a:rPr lang="es-ES" dirty="0"/>
              <a:t> </a:t>
            </a:r>
          </a:p>
          <a:p>
            <a:r>
              <a:rPr lang="es-ES" dirty="0"/>
              <a:t>💡 Ejemplo: ASP.NET Core es como el diseño y el sistema eléctrico/plomería de tu casa: permite que todo funcione correctamente y que la gente pueda usarla.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2179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A2AF7-A93D-8153-C8E7-B3EACEE0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7EA85-610C-0BCD-E644-C103537A3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2E2475-A4B2-C06D-BFE6-3BA2A8D3E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41" y="681037"/>
            <a:ext cx="77819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03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85136-5828-8DD5-D978-0C718D97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</a:t>
            </a:r>
            <a:r>
              <a:rPr lang="es-ES" b="1" dirty="0"/>
              <a:t>Controlador</a:t>
            </a:r>
            <a:r>
              <a:rPr lang="es-ES" dirty="0"/>
              <a:t> en ASP.NET Core?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4BB33E-BD49-C76A-3280-7365BA963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Un </a:t>
            </a:r>
            <a:r>
              <a:rPr lang="es-ES" b="1" dirty="0"/>
              <a:t>controlador</a:t>
            </a:r>
            <a:r>
              <a:rPr lang="es-ES" dirty="0"/>
              <a:t> (</a:t>
            </a:r>
            <a:r>
              <a:rPr lang="es-ES" dirty="0" err="1"/>
              <a:t>Controller</a:t>
            </a:r>
            <a:r>
              <a:rPr lang="es-ES" dirty="0"/>
              <a:t>) es </a:t>
            </a:r>
            <a:r>
              <a:rPr lang="es-ES" b="1" dirty="0"/>
              <a:t>una parte de tu aplicación que recibe las solicitudes del usuario y decide qué hacer con ellas</a:t>
            </a:r>
            <a:r>
              <a:rPr lang="es-ES" dirty="0"/>
              <a:t>.</a:t>
            </a:r>
          </a:p>
          <a:p>
            <a:r>
              <a:rPr lang="es-ES" dirty="0"/>
              <a:t>Piensa en él como </a:t>
            </a:r>
            <a:r>
              <a:rPr lang="es-ES" b="1" dirty="0"/>
              <a:t>el “jefe de tráfico”</a:t>
            </a:r>
            <a:r>
              <a:rPr lang="es-ES" dirty="0"/>
              <a:t> de tu app. </a:t>
            </a:r>
          </a:p>
          <a:p>
            <a:r>
              <a:rPr lang="es-ES" dirty="0"/>
              <a:t>Recibe las solicitudes de los usuarios (como “quiero ver todos los usuarios”) </a:t>
            </a:r>
          </a:p>
          <a:p>
            <a:r>
              <a:rPr lang="es-ES" dirty="0"/>
              <a:t>Llama a la </a:t>
            </a:r>
            <a:r>
              <a:rPr lang="es-ES" b="1" dirty="0"/>
              <a:t>lógica de negocio o base de datos</a:t>
            </a:r>
            <a:r>
              <a:rPr lang="es-ES" dirty="0"/>
              <a:t> </a:t>
            </a:r>
          </a:p>
          <a:p>
            <a:r>
              <a:rPr lang="es-ES" dirty="0"/>
              <a:t>Devuelve la </a:t>
            </a:r>
            <a:r>
              <a:rPr lang="es-ES" b="1" dirty="0"/>
              <a:t>respuesta adecuada</a:t>
            </a:r>
            <a:r>
              <a:rPr lang="es-ES" dirty="0"/>
              <a:t> (como mostrar una página web o enviar datos JSON)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603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04106-5AA1-FC52-7EB4-4781A62F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CREAR MI PRIMERA API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85AD65-1149-4A1D-1EA4-4F5CD88D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1.-ABRIMOS VISUAL STUDIO</a:t>
            </a:r>
          </a:p>
          <a:p>
            <a:pPr marL="0" indent="0">
              <a:buNone/>
            </a:pPr>
            <a:r>
              <a:rPr lang="es-MX" dirty="0"/>
              <a:t>2.- seleccionamos crear un proyecto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903C69-6D3F-AAEA-3F6C-030A41FC6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3181349"/>
            <a:ext cx="4332315" cy="27590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7DF35D9-6F31-34FA-1E4B-65348AD22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685" y="2952750"/>
            <a:ext cx="4980940" cy="319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95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99ABD-521C-3863-F508-D8FB642A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5AE580-3161-460C-6A08-5BDCCB967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3.- buscamos api net </a:t>
            </a:r>
            <a:r>
              <a:rPr lang="es-MX" dirty="0" err="1"/>
              <a:t>core</a:t>
            </a:r>
            <a:r>
              <a:rPr lang="es-MX" dirty="0"/>
              <a:t> seleccionamos la que se indica y damos </a:t>
            </a:r>
            <a:r>
              <a:rPr lang="es-MX" dirty="0" err="1"/>
              <a:t>click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65E3B6-FC04-7C2E-7AB2-A60078B28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265488"/>
            <a:ext cx="63142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66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B7C4D2-6C86-009C-387A-59DCC0A1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170561"/>
            <a:ext cx="10515600" cy="4351338"/>
          </a:xfrm>
        </p:spPr>
        <p:txBody>
          <a:bodyPr/>
          <a:lstStyle/>
          <a:p>
            <a:r>
              <a:rPr lang="es-MX" dirty="0"/>
              <a:t>Colocamos el nombre y la ruta donde guardaremos el proyecto</a:t>
            </a:r>
          </a:p>
          <a:p>
            <a:r>
              <a:rPr lang="es-MX" dirty="0"/>
              <a:t>Luego en siguiente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CC869A-5557-C935-1318-86F97DE98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74" y="1239139"/>
            <a:ext cx="84201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81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E6558-A187-67F8-1D51-1975E76B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Elegimos el </a:t>
            </a:r>
            <a:r>
              <a:rPr lang="es-MX" dirty="0" err="1"/>
              <a:t>.net</a:t>
            </a:r>
            <a:r>
              <a:rPr lang="es-MX" dirty="0"/>
              <a:t> </a:t>
            </a:r>
            <a:r>
              <a:rPr lang="es-MX" dirty="0" err="1"/>
              <a:t>core</a:t>
            </a:r>
            <a:r>
              <a:rPr lang="es-MX" dirty="0"/>
              <a:t> utilizaremos la 10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9D4C8D-5487-37E0-4102-E1F0D36ED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Elegimos el botón crear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9CEF01-CACF-F511-0916-96282327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9344"/>
            <a:ext cx="6401566" cy="412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773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739EA-AB38-4B8C-C88D-6C1EC560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1"/>
            <a:ext cx="10515600" cy="1009651"/>
          </a:xfrm>
        </p:spPr>
        <p:txBody>
          <a:bodyPr/>
          <a:lstStyle/>
          <a:p>
            <a:r>
              <a:rPr lang="es-MX" dirty="0"/>
              <a:t>Se creara el proyecto y un 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3669B8-BEC3-D05C-F8FB-62A078A4B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C62BC0-B7AD-BE1E-EF1E-C27D8C033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3" y="1213472"/>
            <a:ext cx="10515601" cy="557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05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AB979-D1FC-63EF-AF3C-8413C0E3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7325"/>
          </a:xfrm>
        </p:spPr>
        <p:txBody>
          <a:bodyPr>
            <a:normAutofit fontScale="90000"/>
          </a:bodyPr>
          <a:lstStyle/>
          <a:p>
            <a:r>
              <a:rPr lang="es-MX" dirty="0"/>
              <a:t>Ejecutamos el proyecto como indica y usamos </a:t>
            </a:r>
            <a:r>
              <a:rPr lang="es-MX" dirty="0" err="1"/>
              <a:t>posmant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64590E-CF0A-85A7-F596-FFEF3B4CC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49930AD-4CDF-FFCB-07F3-CEF9688CD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644"/>
            <a:ext cx="6613905" cy="41767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FDB495-2521-1C7B-50C5-AFD5F7E1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834" y="1092450"/>
            <a:ext cx="5766166" cy="551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5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806D1-0583-15A2-7667-74A553BD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explicacion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6E30F5-6A80-4071-B5DD-7B67E7349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D04428-E38E-F903-A224-C9A72A31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684" y="1200419"/>
            <a:ext cx="953452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21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F495B-FFB4-7428-52FC-AA4B42D2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F0B307-0783-7E24-A9A7-0E7F44D8E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B0C242-6A6D-28BF-C9D3-8248BDCC2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84" y="172244"/>
            <a:ext cx="6496319" cy="320039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6802DC-9E70-B3D1-9712-11F551DB7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1" y="3232980"/>
            <a:ext cx="7551520" cy="354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03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9E72B-420F-CB08-B3A9-4954AE2C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44CA33-9DB7-85C7-5DEB-4C40EBED5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12C400-8076-8E28-17EB-E48DB8D12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7" y="61912"/>
            <a:ext cx="911542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86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317A5-D611-946E-957E-CDBC1D06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696C7-0CA6-30EA-446E-012564852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8F8AAA-5912-84A8-050F-400BBF4C1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87" y="580957"/>
            <a:ext cx="72009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9349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36F71-25EF-EB95-013A-298708F3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B28FF-10E7-8274-C0D9-3E2116E30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Los archivos importantes:</a:t>
            </a:r>
          </a:p>
          <a:p>
            <a:r>
              <a:rPr lang="es-ES" dirty="0" err="1"/>
              <a:t>Controllers</a:t>
            </a:r>
            <a:r>
              <a:rPr lang="es-ES" dirty="0"/>
              <a:t>/ → donde viven las rutas de tu API </a:t>
            </a:r>
          </a:p>
          <a:p>
            <a:r>
              <a:rPr lang="es-ES" dirty="0" err="1"/>
              <a:t>Program.cs</a:t>
            </a:r>
            <a:r>
              <a:rPr lang="es-ES" dirty="0"/>
              <a:t> → configuración principal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025998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523808-1C8D-2144-63B5-F9D90022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42853-6820-D501-C684-77FEACC27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s-MX" sz="2000" dirty="0" err="1"/>
              <a:t>launchSettings.json</a:t>
            </a:r>
            <a:endParaRPr lang="es-MX" sz="2000" dirty="0"/>
          </a:p>
          <a:p>
            <a:r>
              <a:rPr lang="es-MX" sz="2000" dirty="0"/>
              <a:t>Es un archivo que nos permite ver las configuraciones respecto al lanzamiento de nuestra aplicación, es importante recordar que solo es para nuestro ambiente de pruebas , para producción no se usa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23903F-E4CC-CC3E-E903-DA47741C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682" y="755313"/>
            <a:ext cx="6542172" cy="497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107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16A53-0EE8-2E2D-39A7-112EC698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Clase </a:t>
            </a:r>
            <a:r>
              <a:rPr lang="es-MX" dirty="0" err="1"/>
              <a:t>Program.cs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A0DCE2-0A9B-5548-CD63-996146127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9AD1A6-5CA1-532F-4F7D-7105E05FF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1533525"/>
            <a:ext cx="62007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88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DA30-0285-9D05-63AF-8ECE964E0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ARCHIVO </a:t>
            </a:r>
            <a:r>
              <a:rPr lang="es-MX" dirty="0" err="1"/>
              <a:t>appsettings.json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0C5572-4FB1-DA41-2318-2E0388900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Es un proveedor de configuración , un proveedor de configuración es una fuente de datos que nuestra aplicación puede usar para tener acceso rápido, acá colocaremos nuestra conexión a nuestra base de datos, podríamos tener dos conexiones una para pruebas y otra para </a:t>
            </a:r>
            <a:r>
              <a:rPr lang="es-MX" dirty="0" err="1"/>
              <a:t>produccion</a:t>
            </a:r>
            <a:r>
              <a:rPr lang="es-MX" dirty="0"/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101985-6029-4BBD-7B5A-6518262E4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815" y="4405031"/>
            <a:ext cx="4156973" cy="102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710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B1F99-5490-5FB8-888C-14DD869D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Simulando una cadena de conexión para DEV y para PROD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994F54-BCA7-9F40-2750-CDC83C162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29DDFC-FD3E-9A70-5197-276F341FA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690688"/>
            <a:ext cx="8946314" cy="26009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3E174C-925E-747D-A3C5-094B45048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4426597"/>
            <a:ext cx="8829675" cy="249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15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DDC32-A0B3-88D3-6231-C8B420CB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0D65EA4-D634-E36B-218D-0AFA8AF7E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4201" y="308768"/>
            <a:ext cx="5927098" cy="43513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E5C62BF-BE31-D328-F57A-5027B59FC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7175" y="365125"/>
            <a:ext cx="5805481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01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AC282-4C4D-4071-43B2-C1EFDFDB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Entity</a:t>
            </a:r>
            <a:r>
              <a:rPr lang="es-ES" b="1" dirty="0"/>
              <a:t> Framework Core (EF Core)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344ED5-EF76-1707-B1CC-0E450B51F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52" y="158788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s-ES" b="1" dirty="0" err="1"/>
              <a:t>Entity</a:t>
            </a:r>
            <a:r>
              <a:rPr lang="es-ES" b="1" dirty="0"/>
              <a:t> Framework Core (EF Core)</a:t>
            </a:r>
            <a:r>
              <a:rPr lang="es-ES" dirty="0"/>
              <a:t> es una herramienta que te permite trabajar con bases de datos usando </a:t>
            </a:r>
            <a:r>
              <a:rPr lang="es-ES" b="1" dirty="0"/>
              <a:t>código C# en lugar de escribir SQL directamente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Sin EF Core ❌</a:t>
            </a:r>
            <a:br>
              <a:rPr lang="es-ES" dirty="0"/>
            </a:br>
            <a:r>
              <a:rPr lang="es-ES" dirty="0"/>
              <a:t>Tienes que escribir SQL:</a:t>
            </a:r>
          </a:p>
          <a:p>
            <a:r>
              <a:rPr lang="es-ES" dirty="0"/>
              <a:t>SELECT * FROM Productos WHERE Precio &gt; 1000;</a:t>
            </a:r>
          </a:p>
          <a:p>
            <a:pPr marL="0" indent="0">
              <a:buNone/>
            </a:pPr>
            <a:r>
              <a:rPr lang="es-MX" dirty="0"/>
              <a:t>Con EF Core ✅</a:t>
            </a:r>
            <a:br>
              <a:rPr lang="es-MX" dirty="0"/>
            </a:br>
            <a:r>
              <a:rPr lang="es-MX" dirty="0"/>
              <a:t>Usas C#:</a:t>
            </a:r>
          </a:p>
          <a:p>
            <a:r>
              <a:rPr lang="es-MX" dirty="0" err="1"/>
              <a:t>var</a:t>
            </a:r>
            <a:r>
              <a:rPr lang="es-MX" dirty="0"/>
              <a:t> productos = </a:t>
            </a:r>
            <a:r>
              <a:rPr lang="es-MX" dirty="0" err="1"/>
              <a:t>db.Productos.Where</a:t>
            </a:r>
            <a:r>
              <a:rPr lang="es-MX" dirty="0"/>
              <a:t>(p =&gt; </a:t>
            </a:r>
            <a:r>
              <a:rPr lang="es-MX" dirty="0" err="1"/>
              <a:t>p.Precio</a:t>
            </a:r>
            <a:r>
              <a:rPr lang="es-MX" dirty="0"/>
              <a:t> &gt; 1000).</a:t>
            </a:r>
            <a:r>
              <a:rPr lang="es-MX" dirty="0" err="1"/>
              <a:t>ToList</a:t>
            </a:r>
            <a:r>
              <a:rPr lang="es-MX" dirty="0"/>
              <a:t>();</a:t>
            </a:r>
          </a:p>
          <a:p>
            <a:endParaRPr lang="es-ES" dirty="0"/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F24D35-57A9-4312-FBD2-9776CAED8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5215176"/>
            <a:ext cx="3980688" cy="164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043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EFEB8-73D2-6326-B529-3664526A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4" y="112713"/>
            <a:ext cx="10515600" cy="1325563"/>
          </a:xfrm>
        </p:spPr>
        <p:txBody>
          <a:bodyPr/>
          <a:lstStyle/>
          <a:p>
            <a:r>
              <a:rPr lang="es-MX" dirty="0"/>
              <a:t>INSTALANDO </a:t>
            </a:r>
            <a:r>
              <a:rPr lang="es-ES" b="1" dirty="0" err="1"/>
              <a:t>Entity</a:t>
            </a:r>
            <a:r>
              <a:rPr lang="es-ES" b="1" dirty="0"/>
              <a:t> Framework Core 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1B98CB-0752-09A0-BC10-4641D2064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04" y="1158113"/>
            <a:ext cx="114360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Seguir los pasos</a:t>
            </a:r>
          </a:p>
          <a:p>
            <a:pPr marL="0" indent="0">
              <a:buNone/>
            </a:pPr>
            <a:r>
              <a:rPr lang="es-MX" sz="2400" dirty="0"/>
              <a:t>1.- </a:t>
            </a:r>
            <a:r>
              <a:rPr lang="es-MX" sz="2400" dirty="0" err="1"/>
              <a:t>Click</a:t>
            </a:r>
            <a:r>
              <a:rPr lang="es-MX" sz="2400" dirty="0"/>
              <a:t> derecho al proyecto elegir Administrar Paquetes </a:t>
            </a:r>
            <a:r>
              <a:rPr lang="es-MX" sz="2400" dirty="0" err="1"/>
              <a:t>Nuguet</a:t>
            </a:r>
            <a:endParaRPr lang="es-MX" sz="2400" dirty="0"/>
          </a:p>
          <a:p>
            <a:pPr marL="0" indent="0">
              <a:buNone/>
            </a:pPr>
            <a:r>
              <a:rPr lang="es-MX" sz="2400" dirty="0"/>
              <a:t>2.-Le damos en examinar y buscamos </a:t>
            </a:r>
            <a:r>
              <a:rPr lang="es-MX" sz="2400" dirty="0" err="1"/>
              <a:t>Microsoft.EntityFrameworkCore.SqlServe</a:t>
            </a:r>
            <a:endParaRPr lang="es-MX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7A1296-3510-8968-7003-308A8BDE8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129" y="2717991"/>
            <a:ext cx="2960810" cy="3429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03D10B7-161E-3625-9F95-C5FF71D59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55" y="2717991"/>
            <a:ext cx="5485473" cy="368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534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936B71-38C1-32F7-2AE1-BDC584831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3587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3.-Le damos en instalar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CAA415-1501-7634-639E-946D328F5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32" y="802919"/>
            <a:ext cx="10579608" cy="24594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C5FD8E4-5868-0F22-F7A1-EA6062402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32" y="3262334"/>
            <a:ext cx="5003968" cy="34500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0850BD0-0513-9F32-8F7B-B27BE0B85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582" y="3262334"/>
            <a:ext cx="5116118" cy="359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015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68CAD-4F37-242E-F455-FE7F6B8E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DbContext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A43F7C-340A-C1E8-E8DB-0D3BFC7A5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1.-Creamos una carpeta </a:t>
            </a:r>
            <a:r>
              <a:rPr lang="es-MX" dirty="0" err="1"/>
              <a:t>DbDatos</a:t>
            </a:r>
            <a:r>
              <a:rPr lang="es-MX" dirty="0"/>
              <a:t>, </a:t>
            </a:r>
            <a:r>
              <a:rPr lang="es-MX" dirty="0" err="1"/>
              <a:t>click</a:t>
            </a:r>
            <a:r>
              <a:rPr lang="es-MX" dirty="0"/>
              <a:t> derecho en el proyecto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129D9D-9469-6C66-AF7C-B4ADA8CD7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2290774"/>
            <a:ext cx="5843588" cy="44973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0F94462-226D-3CA8-FC74-16F6B81EA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50" y="3143250"/>
            <a:ext cx="29146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13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77204-8888-EDF4-4F49-C0CA58370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49400"/>
          </a:xfrm>
        </p:spPr>
        <p:txBody>
          <a:bodyPr>
            <a:normAutofit fontScale="90000"/>
          </a:bodyPr>
          <a:lstStyle/>
          <a:p>
            <a:r>
              <a:rPr lang="es-MX" dirty="0"/>
              <a:t>Como usamos visual </a:t>
            </a:r>
            <a:r>
              <a:rPr lang="es-MX" dirty="0" err="1"/>
              <a:t>studio</a:t>
            </a:r>
            <a:r>
              <a:rPr lang="es-MX" dirty="0"/>
              <a:t> tememos que instalar </a:t>
            </a:r>
            <a:r>
              <a:rPr lang="es-MX" dirty="0" err="1"/>
              <a:t>Microsoft.EntityFrameworkCore.Tools</a:t>
            </a:r>
            <a:r>
              <a:rPr lang="es-MX" dirty="0"/>
              <a:t>, esto nos </a:t>
            </a:r>
            <a:r>
              <a:rPr lang="es-MX" dirty="0" err="1"/>
              <a:t>permitira</a:t>
            </a:r>
            <a:r>
              <a:rPr lang="es-MX" dirty="0"/>
              <a:t> obtener comandos para poder interactuar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5BF37D-83E5-6BBF-D528-9FAA63AEB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399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MISMOS PASOS PARA ENTRAR A PAQUETES NUGUET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7B904E-AC4C-1810-7222-84CBA249E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82" y="2834271"/>
            <a:ext cx="8311896" cy="242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72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A9BCD-AB78-349A-A759-1F3947E0B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1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Creando la clase </a:t>
            </a:r>
            <a:r>
              <a:rPr lang="es-MX" dirty="0" err="1"/>
              <a:t>DbContext:pieza</a:t>
            </a:r>
            <a:r>
              <a:rPr lang="es-MX" dirty="0"/>
              <a:t> centrar donde tenemos las configuraciones de </a:t>
            </a:r>
            <a:r>
              <a:rPr lang="es-MX" dirty="0" err="1"/>
              <a:t>entity</a:t>
            </a:r>
            <a:r>
              <a:rPr lang="es-MX" dirty="0"/>
              <a:t> </a:t>
            </a:r>
            <a:r>
              <a:rPr lang="es-MX" dirty="0" err="1"/>
              <a:t>framework</a:t>
            </a:r>
            <a:r>
              <a:rPr lang="es-MX" dirty="0"/>
              <a:t> </a:t>
            </a:r>
            <a:r>
              <a:rPr lang="es-MX" dirty="0" err="1"/>
              <a:t>core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27D102-DAF3-B1A6-034F-755191CF7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En la carpeta </a:t>
            </a:r>
            <a:r>
              <a:rPr lang="es-MX" dirty="0" err="1"/>
              <a:t>DbDatos</a:t>
            </a:r>
            <a:r>
              <a:rPr lang="es-MX" dirty="0"/>
              <a:t> creada dentro de ella damos clic derecho 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DFBD70-F002-9F52-EAC6-BF994EA6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2378075"/>
            <a:ext cx="6677025" cy="39338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C21606-760D-38C3-BD5D-62ABE82DE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166" y="3209925"/>
            <a:ext cx="471389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15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0D4BF-6025-AD53-E8E5-7E486FF5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Configuracionde</a:t>
            </a:r>
            <a:r>
              <a:rPr lang="es-MX" dirty="0"/>
              <a:t> </a:t>
            </a:r>
            <a:r>
              <a:rPr lang="es-MX" dirty="0" err="1"/>
              <a:t>DbContext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A69AA9-B407-DE78-D068-AF3C237DE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156B2F-3B1E-6B3F-9E7C-6B0E0B20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1585912"/>
            <a:ext cx="980122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85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21744-7174-0204-8DDB-0044788FB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E239B1-94FA-0D7B-4FCA-773AFE7ED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383069-68AF-8DFC-C63F-EDAFC1A21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343" y="-141667"/>
            <a:ext cx="5922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15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31EA0-2D6C-7DAB-B7B2-5405E113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D7529D-2A99-45CB-0C94-8B13366BF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C7E787-30DE-EC96-D866-9B0822C0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150450"/>
            <a:ext cx="11952514" cy="33503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5F38FC-2389-9928-D8C7-B75D5983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3" y="2957694"/>
            <a:ext cx="82486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626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07838-3CE5-69AB-D5A0-40B1D33D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EC6BF-AA95-CE28-24B4-CB2BD7EF1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8C609F-548D-CF0F-478F-5B605D5A5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53" y="605223"/>
            <a:ext cx="401002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0259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D0DF4-5361-5BCF-5CA6-5399FF2B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COMSUMIR EN NUESTRA APP DE CARRITO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7D2896-EBAB-5E01-B2B6-DD49868A2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1.- EN EL SERVICIO QUE YA TENEMOS CREADO AGREGAMOS EL HTTPCLIENT PARA CONSUMIR NUESTRA API</a:t>
            </a:r>
          </a:p>
          <a:p>
            <a:r>
              <a:rPr lang="es-MX" dirty="0"/>
              <a:t>2.-AGREGARMOS EL SERVICIO AL COMPONENTE INICIO</a:t>
            </a:r>
          </a:p>
          <a:p>
            <a:r>
              <a:rPr lang="es-MX" dirty="0"/>
              <a:t>3.-AGREGAMOS EL CODIGO PARA CONSUMIR LA API</a:t>
            </a:r>
          </a:p>
          <a:p>
            <a:r>
              <a:rPr lang="es-MX" dirty="0"/>
              <a:t>4.-CAMBIAMOS LA CONFIGURACION DE </a:t>
            </a:r>
            <a:r>
              <a:rPr lang="es-MX" dirty="0" err="1"/>
              <a:t>main.ts</a:t>
            </a:r>
            <a:r>
              <a:rPr lang="es-MX" dirty="0"/>
              <a:t> PARA QUE ANGULAR PUEDA USAR HTTPCLIENT DENTRO DE NUESTRO SERVICIO</a:t>
            </a:r>
          </a:p>
          <a:p>
            <a:r>
              <a:rPr lang="es-MX" dirty="0"/>
              <a:t>5.-AL CORRER NOS MARCARA UN ERROR DE CORS</a:t>
            </a:r>
          </a:p>
        </p:txBody>
      </p:sp>
    </p:spTree>
    <p:extLst>
      <p:ext uri="{BB962C8B-B14F-4D97-AF65-F5344CB8AC3E}">
        <p14:creationId xmlns:p14="http://schemas.microsoft.com/office/powerpoint/2010/main" val="1913125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2266C-9234-C564-AF2E-73AFBCAA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68822B-B9E5-1032-3790-289DE47A6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AB9A52-BA12-9937-3CF6-503E3C2DD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823912"/>
            <a:ext cx="111823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561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D3535-B481-A8AB-1B9F-D62454E8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Explicacion</a:t>
            </a:r>
            <a:r>
              <a:rPr lang="es-MX" dirty="0"/>
              <a:t> </a:t>
            </a:r>
            <a:r>
              <a:rPr lang="es-MX" dirty="0" err="1"/>
              <a:t>cors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BE80D6-7CD0-E825-5BB2-D42D7484C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Este código le dice a tu API:</a:t>
            </a:r>
          </a:p>
          <a:p>
            <a:r>
              <a:rPr lang="es-ES" dirty="0"/>
              <a:t>“Voy a permitir que otras aplicaciones (como Angular) puedan hacerme peticiones”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659AD5-2C06-4FD4-5DBA-A3196110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3429000"/>
            <a:ext cx="70294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687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4D9E8-BDC3-6B54-7895-0A22824DD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Explicación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8B6A21-096D-3FFC-41E2-68EA967C8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Imagínemos</a:t>
            </a:r>
            <a:r>
              <a:rPr lang="es-ES" dirty="0"/>
              <a:t> que la API es nuestra </a:t>
            </a:r>
            <a:r>
              <a:rPr lang="es-ES" b="1" dirty="0"/>
              <a:t>casa 🏠</a:t>
            </a:r>
            <a:br>
              <a:rPr lang="es-ES" dirty="0"/>
            </a:br>
            <a:r>
              <a:rPr lang="es-ES" dirty="0"/>
              <a:t>y Angular es una </a:t>
            </a:r>
            <a:r>
              <a:rPr lang="es-ES" b="1" dirty="0"/>
              <a:t>persona que quiere entrar 🚪</a:t>
            </a:r>
            <a:endParaRPr lang="es-ES" dirty="0"/>
          </a:p>
          <a:p>
            <a:r>
              <a:rPr lang="es-ES" dirty="0"/>
              <a:t>👉 CORS es el </a:t>
            </a:r>
            <a:r>
              <a:rPr lang="es-ES" b="1" dirty="0"/>
              <a:t>guardia de seguridad</a:t>
            </a:r>
            <a:endParaRPr lang="es-ES" dirty="0"/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D4CE77-5228-5AC9-5112-BAD0C0E54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71" y="3276790"/>
            <a:ext cx="705802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053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4CA89-2E16-D7CF-2AC2-5623F619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B196B2-911E-CE02-867F-902AFA40A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1C0CB3-54E3-EAC2-3233-DBA996BB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6" y="195644"/>
            <a:ext cx="6031229" cy="30280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A3011A9-16A6-B5A5-C9B9-6C8CA3383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7916"/>
            <a:ext cx="6428678" cy="302805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89ED715-54FB-C63D-C76F-93A40F034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832" y="195644"/>
            <a:ext cx="4636926" cy="323335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4EFC64E-E910-85FE-0E13-40FF83231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445" y="3733290"/>
            <a:ext cx="4548313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95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9A152-1F44-C674-9BC2-8C8A10FD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08B9C5-0F5E-5E17-58A0-6064530D9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BCF968-D551-7D83-DB8F-37DFB239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76200"/>
            <a:ext cx="6276975" cy="2895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A9CD5AD-46C0-1AD8-33F4-4EE191513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87" y="2528130"/>
            <a:ext cx="6348413" cy="409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896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8291C-18A7-EAF7-0B4E-3E8EC0DB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95146C-3587-9C0A-585A-79612D120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560A70-3131-D66F-B844-124C22D42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77770"/>
            <a:ext cx="11811000" cy="530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298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63B07E-AF6C-1BE3-D48C-A2F86D05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s-MX" sz="3400"/>
              <a:t>EXPLICACION DE NUESTRO PRIMER CONTROLLER</a:t>
            </a:r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7418FB-1176-6B76-7B75-83AB44FBE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100" b="1"/>
              <a:t>1. [</a:t>
            </a:r>
            <a:r>
              <a:rPr lang="es-ES" sz="1100" b="1" err="1"/>
              <a:t>ApiController</a:t>
            </a:r>
            <a:r>
              <a:rPr lang="es-ES" sz="1100" b="1"/>
              <a:t>]</a:t>
            </a:r>
          </a:p>
          <a:p>
            <a:pPr marL="0" indent="0">
              <a:buNone/>
            </a:pPr>
            <a:r>
              <a:rPr lang="es-ES" sz="1100" b="1"/>
              <a:t>[</a:t>
            </a:r>
            <a:r>
              <a:rPr lang="es-ES" sz="1100" b="1" err="1"/>
              <a:t>ApiController</a:t>
            </a:r>
            <a:r>
              <a:rPr lang="es-ES" sz="1100" b="1"/>
              <a:t>]</a:t>
            </a:r>
          </a:p>
          <a:p>
            <a:pPr marL="0" indent="0">
              <a:buNone/>
            </a:pPr>
            <a:r>
              <a:rPr lang="es-ES" sz="1100"/>
              <a:t>Esto le dice a ASP.NET que esta clase es un </a:t>
            </a:r>
            <a:r>
              <a:rPr lang="es-ES" sz="1100" b="1"/>
              <a:t>controlador de API</a:t>
            </a:r>
            <a:r>
              <a:rPr lang="es-ES" sz="1100"/>
              <a:t>.</a:t>
            </a:r>
          </a:p>
          <a:p>
            <a:r>
              <a:rPr lang="es-ES" sz="1100"/>
              <a:t>👉 ¿Qué significa?</a:t>
            </a:r>
          </a:p>
          <a:p>
            <a:pPr marL="0" indent="0">
              <a:buNone/>
            </a:pPr>
            <a:r>
              <a:rPr lang="es-ES" sz="1100"/>
              <a:t>Que va a responder a peticiones HTTP (como GET, POST, etc.) </a:t>
            </a:r>
          </a:p>
          <a:p>
            <a:pPr marL="0" indent="0">
              <a:buNone/>
            </a:pPr>
            <a:r>
              <a:rPr lang="es-ES" sz="1100"/>
              <a:t>Automáticamente valida datos </a:t>
            </a:r>
          </a:p>
          <a:p>
            <a:pPr marL="0" indent="0">
              <a:buNone/>
            </a:pPr>
            <a:r>
              <a:rPr lang="es-ES" sz="1100"/>
              <a:t>Hace más fácil trabajar con </a:t>
            </a:r>
            <a:r>
              <a:rPr lang="es-ES" sz="1100" err="1"/>
              <a:t>APIs</a:t>
            </a:r>
            <a:r>
              <a:rPr lang="es-ES" sz="1100"/>
              <a:t> REST </a:t>
            </a:r>
          </a:p>
          <a:p>
            <a:pPr marL="0" indent="0">
              <a:buNone/>
            </a:pPr>
            <a:br>
              <a:rPr lang="es-ES" sz="1100"/>
            </a:br>
            <a:r>
              <a:rPr lang="es-ES" sz="1100" b="1"/>
              <a:t>2. [</a:t>
            </a:r>
            <a:r>
              <a:rPr lang="es-ES" sz="1100" b="1" err="1"/>
              <a:t>Route</a:t>
            </a:r>
            <a:r>
              <a:rPr lang="es-ES" sz="1100" b="1"/>
              <a:t>("[</a:t>
            </a:r>
            <a:r>
              <a:rPr lang="es-ES" sz="1100" b="1" err="1"/>
              <a:t>controller</a:t>
            </a:r>
            <a:r>
              <a:rPr lang="es-ES" sz="1100" b="1"/>
              <a:t>]")]</a:t>
            </a:r>
          </a:p>
          <a:p>
            <a:pPr marL="0" indent="0">
              <a:buNone/>
            </a:pPr>
            <a:r>
              <a:rPr lang="es-ES" sz="1100" b="1"/>
              <a:t>[</a:t>
            </a:r>
            <a:r>
              <a:rPr lang="es-ES" sz="1100" b="1" err="1"/>
              <a:t>Route</a:t>
            </a:r>
            <a:r>
              <a:rPr lang="es-ES" sz="1100" b="1"/>
              <a:t>("[</a:t>
            </a:r>
            <a:r>
              <a:rPr lang="es-ES" sz="1100" b="1" err="1"/>
              <a:t>controller</a:t>
            </a:r>
            <a:r>
              <a:rPr lang="es-ES" sz="1100" b="1"/>
              <a:t>]")]</a:t>
            </a:r>
          </a:p>
          <a:p>
            <a:pPr marL="0" indent="0">
              <a:buNone/>
            </a:pPr>
            <a:r>
              <a:rPr lang="es-ES" sz="1100"/>
              <a:t>Define la </a:t>
            </a:r>
            <a:r>
              <a:rPr lang="es-ES" sz="1100" b="1"/>
              <a:t>ruta base</a:t>
            </a:r>
            <a:r>
              <a:rPr lang="es-ES" sz="1100"/>
              <a:t> de tu API.</a:t>
            </a:r>
          </a:p>
          <a:p>
            <a:r>
              <a:rPr lang="es-ES" sz="1100"/>
              <a:t>👉 [</a:t>
            </a:r>
            <a:r>
              <a:rPr lang="es-ES" sz="1100" err="1"/>
              <a:t>controller</a:t>
            </a:r>
            <a:r>
              <a:rPr lang="es-ES" sz="1100"/>
              <a:t>] se reemplaza por el nombre del controlador sin "</a:t>
            </a:r>
            <a:r>
              <a:rPr lang="es-ES" sz="1100" err="1"/>
              <a:t>Controller</a:t>
            </a:r>
            <a:r>
              <a:rPr lang="es-ES" sz="1100"/>
              <a:t>".</a:t>
            </a:r>
          </a:p>
          <a:p>
            <a:r>
              <a:rPr lang="es-ES" sz="1100"/>
              <a:t>En este caso:</a:t>
            </a:r>
          </a:p>
          <a:p>
            <a:r>
              <a:rPr lang="es-ES" sz="1100" err="1"/>
              <a:t>ProductosController</a:t>
            </a:r>
            <a:endParaRPr lang="es-ES" sz="1100"/>
          </a:p>
          <a:p>
            <a:r>
              <a:rPr lang="es-ES" sz="1100"/>
              <a:t>➡️ La ruta será:</a:t>
            </a:r>
          </a:p>
          <a:p>
            <a:r>
              <a:rPr lang="es-ES" sz="1100"/>
              <a:t>/Productos</a:t>
            </a:r>
          </a:p>
          <a:p>
            <a:endParaRPr lang="es-MX" sz="11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53A2789-B466-F084-CD57-88D913EAF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184" y="1755285"/>
            <a:ext cx="3781051" cy="27034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134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Freeform: Shape 11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A8F1F4-F030-9C33-D885-0289E2AA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66" y="409575"/>
            <a:ext cx="6839654" cy="62293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400" b="1" dirty="0"/>
              <a:t>3. Definición de la clase</a:t>
            </a:r>
          </a:p>
          <a:p>
            <a:pPr marL="0" indent="0">
              <a:buNone/>
            </a:pPr>
            <a:r>
              <a:rPr lang="es-MX" sz="1400" b="1" dirty="0" err="1"/>
              <a:t>public</a:t>
            </a:r>
            <a:r>
              <a:rPr lang="es-MX" sz="1400" b="1" dirty="0"/>
              <a:t> </a:t>
            </a:r>
            <a:r>
              <a:rPr lang="es-MX" sz="1400" b="1" dirty="0" err="1"/>
              <a:t>class</a:t>
            </a:r>
            <a:r>
              <a:rPr lang="es-MX" sz="1400" b="1" dirty="0"/>
              <a:t> </a:t>
            </a:r>
            <a:r>
              <a:rPr lang="es-MX" sz="1400" b="1" dirty="0" err="1"/>
              <a:t>ProductosController</a:t>
            </a:r>
            <a:r>
              <a:rPr lang="es-MX" sz="1400" b="1" dirty="0"/>
              <a:t> : </a:t>
            </a:r>
            <a:r>
              <a:rPr lang="es-MX" sz="1400" b="1" dirty="0" err="1"/>
              <a:t>ControllerBase</a:t>
            </a:r>
            <a:endParaRPr lang="es-MX" sz="1400" b="1" dirty="0"/>
          </a:p>
          <a:p>
            <a:r>
              <a:rPr lang="es-MX" sz="1400" dirty="0"/>
              <a:t>👉 Esto significa:</a:t>
            </a:r>
          </a:p>
          <a:p>
            <a:r>
              <a:rPr lang="es-MX" sz="1400" dirty="0" err="1"/>
              <a:t>ProductosController</a:t>
            </a:r>
            <a:r>
              <a:rPr lang="es-MX" sz="1400" dirty="0"/>
              <a:t> es tu controlador </a:t>
            </a:r>
          </a:p>
          <a:p>
            <a:r>
              <a:rPr lang="es-MX" sz="1400" dirty="0"/>
              <a:t>Hereda de </a:t>
            </a:r>
            <a:r>
              <a:rPr lang="es-MX" sz="1400" dirty="0" err="1"/>
              <a:t>ControllerBase</a:t>
            </a:r>
            <a:r>
              <a:rPr lang="es-MX" sz="1400" dirty="0"/>
              <a:t>, que tiene funciones útiles como: </a:t>
            </a:r>
          </a:p>
          <a:p>
            <a:pPr lvl="1"/>
            <a:r>
              <a:rPr lang="es-MX" sz="1400" dirty="0"/>
              <a:t>Ok() </a:t>
            </a:r>
          </a:p>
          <a:p>
            <a:pPr lvl="1"/>
            <a:r>
              <a:rPr lang="es-MX" sz="1400" dirty="0" err="1"/>
              <a:t>BadRequest</a:t>
            </a:r>
            <a:r>
              <a:rPr lang="es-MX" sz="1400" dirty="0"/>
              <a:t>() </a:t>
            </a:r>
          </a:p>
          <a:p>
            <a:pPr lvl="1"/>
            <a:r>
              <a:rPr lang="es-MX" sz="1400" dirty="0"/>
              <a:t>etc. </a:t>
            </a:r>
            <a:br>
              <a:rPr lang="es-MX" sz="1400" dirty="0"/>
            </a:br>
            <a:endParaRPr lang="es-MX" sz="1400" dirty="0"/>
          </a:p>
          <a:p>
            <a:pPr marL="0" indent="0">
              <a:buNone/>
            </a:pPr>
            <a:r>
              <a:rPr lang="es-MX" sz="1400" b="1" dirty="0"/>
              <a:t> 4. Inyección de dependencias (</a:t>
            </a:r>
            <a:r>
              <a:rPr lang="es-MX" sz="1400" b="1" dirty="0" err="1"/>
              <a:t>DbContext</a:t>
            </a:r>
            <a:r>
              <a:rPr lang="es-MX" sz="1400" b="1" dirty="0"/>
              <a:t>)</a:t>
            </a:r>
          </a:p>
          <a:p>
            <a:r>
              <a:rPr lang="es-MX" sz="1400" dirty="0" err="1"/>
              <a:t>private</a:t>
            </a:r>
            <a:r>
              <a:rPr lang="es-MX" sz="1400" dirty="0"/>
              <a:t> </a:t>
            </a:r>
            <a:r>
              <a:rPr lang="es-MX" sz="1400" dirty="0" err="1"/>
              <a:t>readonly</a:t>
            </a:r>
            <a:r>
              <a:rPr lang="es-MX" sz="1400" dirty="0"/>
              <a:t> </a:t>
            </a:r>
            <a:r>
              <a:rPr lang="es-MX" sz="1400" dirty="0" err="1"/>
              <a:t>ApplicationDbContext</a:t>
            </a:r>
            <a:r>
              <a:rPr lang="es-MX" sz="1400" dirty="0"/>
              <a:t> _</a:t>
            </a:r>
            <a:r>
              <a:rPr lang="es-MX" sz="1400" dirty="0" err="1"/>
              <a:t>context</a:t>
            </a:r>
            <a:r>
              <a:rPr lang="es-MX" sz="1400" dirty="0"/>
              <a:t>;</a:t>
            </a:r>
            <a:br>
              <a:rPr lang="es-MX" sz="1400" dirty="0"/>
            </a:br>
            <a:br>
              <a:rPr lang="es-MX" sz="1400" dirty="0"/>
            </a:br>
            <a:r>
              <a:rPr lang="es-MX" sz="1400" dirty="0" err="1"/>
              <a:t>public</a:t>
            </a:r>
            <a:r>
              <a:rPr lang="es-MX" sz="1400" dirty="0"/>
              <a:t> </a:t>
            </a:r>
            <a:r>
              <a:rPr lang="es-MX" sz="1400" dirty="0" err="1"/>
              <a:t>ProductosController</a:t>
            </a:r>
            <a:r>
              <a:rPr lang="es-MX" sz="1400" dirty="0"/>
              <a:t>(</a:t>
            </a:r>
            <a:r>
              <a:rPr lang="es-MX" sz="1400" dirty="0" err="1"/>
              <a:t>ApplicationDbContext</a:t>
            </a:r>
            <a:r>
              <a:rPr lang="es-MX" sz="1400" dirty="0"/>
              <a:t> </a:t>
            </a:r>
            <a:r>
              <a:rPr lang="es-MX" sz="1400" dirty="0" err="1"/>
              <a:t>context</a:t>
            </a:r>
            <a:r>
              <a:rPr lang="es-MX" sz="1400" dirty="0"/>
              <a:t>)</a:t>
            </a:r>
            <a:br>
              <a:rPr lang="es-MX" sz="1400" dirty="0"/>
            </a:br>
            <a:r>
              <a:rPr lang="es-MX" sz="1400" dirty="0"/>
              <a:t>{</a:t>
            </a:r>
            <a:br>
              <a:rPr lang="es-MX" sz="1400" dirty="0"/>
            </a:br>
            <a:r>
              <a:rPr lang="es-MX" sz="1400" dirty="0"/>
              <a:t>    _</a:t>
            </a:r>
            <a:r>
              <a:rPr lang="es-MX" sz="1400" dirty="0" err="1"/>
              <a:t>context</a:t>
            </a:r>
            <a:r>
              <a:rPr lang="es-MX" sz="1400" dirty="0"/>
              <a:t> = </a:t>
            </a:r>
            <a:r>
              <a:rPr lang="es-MX" sz="1400" dirty="0" err="1"/>
              <a:t>context</a:t>
            </a:r>
            <a:r>
              <a:rPr lang="es-MX" sz="1400" dirty="0"/>
              <a:t>;</a:t>
            </a:r>
            <a:br>
              <a:rPr lang="es-MX" sz="1400" dirty="0"/>
            </a:br>
            <a:r>
              <a:rPr lang="es-MX" sz="1400" dirty="0"/>
              <a:t>}</a:t>
            </a:r>
          </a:p>
          <a:p>
            <a:r>
              <a:rPr lang="es-MX" sz="1400" dirty="0"/>
              <a:t>👉 Aquí pasa algo MUY importante:</a:t>
            </a:r>
          </a:p>
          <a:p>
            <a:r>
              <a:rPr lang="es-MX" sz="1400" dirty="0" err="1"/>
              <a:t>ApplicationDbContext</a:t>
            </a:r>
            <a:r>
              <a:rPr lang="es-MX" sz="1400" dirty="0"/>
              <a:t> es tu conexión a la base de datos (</a:t>
            </a:r>
            <a:r>
              <a:rPr lang="es-MX" sz="1400" dirty="0" err="1"/>
              <a:t>Entity</a:t>
            </a:r>
            <a:r>
              <a:rPr lang="es-MX" sz="1400" dirty="0"/>
              <a:t> Framework) </a:t>
            </a:r>
          </a:p>
          <a:p>
            <a:r>
              <a:rPr lang="es-MX" sz="1400" dirty="0"/>
              <a:t>ASP.NET lo inyecta automáticamente </a:t>
            </a:r>
          </a:p>
          <a:p>
            <a:r>
              <a:rPr lang="es-MX" sz="1400" dirty="0"/>
              <a:t>💡 Traducción simple:</a:t>
            </a:r>
          </a:p>
          <a:p>
            <a:r>
              <a:rPr lang="es-MX" sz="1400" dirty="0"/>
              <a:t>“Le decimo a ASP.NET oye , dame acceso a la base de datos cuando se cree este controlador"</a:t>
            </a:r>
          </a:p>
          <a:p>
            <a:endParaRPr lang="es-MX" sz="1400" dirty="0"/>
          </a:p>
        </p:txBody>
      </p:sp>
      <p:sp>
        <p:nvSpPr>
          <p:cNvPr id="21" name="Oval 13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035F90-27DE-0C98-87DC-EA1530717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184" y="1816727"/>
            <a:ext cx="3781051" cy="2580567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0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F6AB65-04D8-014D-578C-F94DA21C5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17" y="131000"/>
            <a:ext cx="10515600" cy="65959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b="1" dirty="0"/>
              <a:t>5. Método [</a:t>
            </a:r>
            <a:r>
              <a:rPr lang="es-ES" b="1" dirty="0" err="1"/>
              <a:t>HttpGet</a:t>
            </a:r>
            <a:r>
              <a:rPr lang="es-ES" b="1" dirty="0"/>
              <a:t>]</a:t>
            </a:r>
          </a:p>
          <a:p>
            <a:pPr marL="0" indent="0">
              <a:buNone/>
            </a:pPr>
            <a:r>
              <a:rPr lang="es-ES" dirty="0"/>
              <a:t>[</a:t>
            </a:r>
            <a:r>
              <a:rPr lang="es-ES" dirty="0" err="1"/>
              <a:t>HttpGet</a:t>
            </a:r>
            <a:r>
              <a:rPr lang="es-ES" dirty="0"/>
              <a:t>]</a:t>
            </a:r>
          </a:p>
          <a:p>
            <a:pPr marL="0" indent="0">
              <a:buNone/>
            </a:pPr>
            <a:br>
              <a:rPr lang="es-ES" dirty="0"/>
            </a:b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async</a:t>
            </a:r>
            <a:r>
              <a:rPr lang="es-ES" dirty="0"/>
              <a:t> </a:t>
            </a:r>
            <a:r>
              <a:rPr lang="es-ES" dirty="0" err="1"/>
              <a:t>Task</a:t>
            </a:r>
            <a:r>
              <a:rPr lang="es-ES" dirty="0"/>
              <a:t>&lt;</a:t>
            </a:r>
            <a:r>
              <a:rPr lang="es-ES" dirty="0" err="1"/>
              <a:t>IActionResult</a:t>
            </a:r>
            <a:r>
              <a:rPr lang="es-ES" dirty="0"/>
              <a:t>&gt; </a:t>
            </a:r>
            <a:r>
              <a:rPr lang="es-ES" dirty="0" err="1"/>
              <a:t>Get</a:t>
            </a:r>
            <a:r>
              <a:rPr lang="es-ES" dirty="0"/>
              <a:t>()</a:t>
            </a:r>
          </a:p>
          <a:p>
            <a:r>
              <a:rPr lang="es-ES" dirty="0"/>
              <a:t> Esto define un </a:t>
            </a:r>
            <a:r>
              <a:rPr lang="es-ES" dirty="0" err="1"/>
              <a:t>endpoint</a:t>
            </a:r>
            <a:r>
              <a:rPr lang="es-ES" dirty="0"/>
              <a:t> GET.</a:t>
            </a:r>
          </a:p>
          <a:p>
            <a:r>
              <a:rPr lang="es-ES" dirty="0"/>
              <a:t>Cuando alguien hace:</a:t>
            </a:r>
          </a:p>
          <a:p>
            <a:r>
              <a:rPr lang="es-ES" dirty="0"/>
              <a:t>GET /Productos</a:t>
            </a:r>
          </a:p>
          <a:p>
            <a:r>
              <a:rPr lang="es-ES" dirty="0"/>
              <a:t>Se ejecuta este método</a:t>
            </a:r>
            <a:br>
              <a:rPr lang="es-ES" dirty="0"/>
            </a:br>
            <a:endParaRPr lang="es-ES" dirty="0"/>
          </a:p>
          <a:p>
            <a:pPr marL="0" indent="0">
              <a:buNone/>
            </a:pPr>
            <a:r>
              <a:rPr lang="es-ES" b="1" dirty="0"/>
              <a:t>6. Crear lista de productos</a:t>
            </a:r>
          </a:p>
          <a:p>
            <a:r>
              <a:rPr lang="es-ES" dirty="0" err="1"/>
              <a:t>var</a:t>
            </a:r>
            <a:r>
              <a:rPr lang="es-ES" dirty="0"/>
              <a:t> productos = new </a:t>
            </a:r>
            <a:r>
              <a:rPr lang="es-ES" dirty="0" err="1"/>
              <a:t>List</a:t>
            </a:r>
            <a:r>
              <a:rPr lang="es-ES" dirty="0"/>
              <a:t>&lt;Productos&gt;();</a:t>
            </a:r>
          </a:p>
          <a:p>
            <a:r>
              <a:rPr lang="es-ES" dirty="0"/>
              <a:t>👉Creas una lista vacía de tipo Productos.</a:t>
            </a:r>
          </a:p>
          <a:p>
            <a:r>
              <a:rPr lang="es-ES" dirty="0"/>
              <a:t>⚠️ Nota:</a:t>
            </a:r>
            <a:br>
              <a:rPr lang="es-ES" dirty="0"/>
            </a:br>
            <a:r>
              <a:rPr lang="es-ES" dirty="0"/>
              <a:t>Esto realmente no es necesario porque luego la sobrescribes.</a:t>
            </a:r>
          </a:p>
          <a:p>
            <a:br>
              <a:rPr lang="es-ES" dirty="0"/>
            </a:br>
            <a:endParaRPr lang="es-ES" dirty="0"/>
          </a:p>
          <a:p>
            <a:pPr marL="0" indent="0">
              <a:buNone/>
            </a:pPr>
            <a:r>
              <a:rPr lang="es-ES" b="1" dirty="0"/>
              <a:t>🗄️ 7. Obtener datos de la base de datos</a:t>
            </a:r>
          </a:p>
          <a:p>
            <a:r>
              <a:rPr lang="es-ES" dirty="0"/>
              <a:t>productos = </a:t>
            </a:r>
            <a:r>
              <a:rPr lang="es-ES" dirty="0" err="1"/>
              <a:t>await</a:t>
            </a:r>
            <a:r>
              <a:rPr lang="es-ES" dirty="0"/>
              <a:t> _</a:t>
            </a:r>
            <a:r>
              <a:rPr lang="es-ES" dirty="0" err="1"/>
              <a:t>context.Productos.ToListAsync</a:t>
            </a:r>
            <a:r>
              <a:rPr lang="es-ES" dirty="0"/>
              <a:t>();</a:t>
            </a:r>
          </a:p>
          <a:p>
            <a:pPr marL="0" indent="0">
              <a:buNone/>
            </a:pPr>
            <a:r>
              <a:rPr lang="es-ES" dirty="0"/>
              <a:t> Aquí pasa lo importante:</a:t>
            </a:r>
          </a:p>
          <a:p>
            <a:r>
              <a:rPr lang="es-ES" dirty="0"/>
              <a:t>_</a:t>
            </a:r>
            <a:r>
              <a:rPr lang="es-ES" dirty="0" err="1"/>
              <a:t>context.Productos</a:t>
            </a:r>
            <a:r>
              <a:rPr lang="es-ES" dirty="0"/>
              <a:t> = tabla Productos </a:t>
            </a:r>
          </a:p>
          <a:p>
            <a:r>
              <a:rPr lang="es-ES" dirty="0" err="1"/>
              <a:t>ToListAsync</a:t>
            </a:r>
            <a:r>
              <a:rPr lang="es-ES" dirty="0"/>
              <a:t>() = trae todos los registros como lista </a:t>
            </a:r>
          </a:p>
          <a:p>
            <a:r>
              <a:rPr lang="es-ES" dirty="0" err="1"/>
              <a:t>await</a:t>
            </a:r>
            <a:r>
              <a:rPr lang="es-ES" dirty="0"/>
              <a:t> = espera la respuesta sin bloquear el programa </a:t>
            </a:r>
          </a:p>
          <a:p>
            <a:r>
              <a:rPr lang="es-ES" dirty="0"/>
              <a:t> Traducción:</a:t>
            </a:r>
          </a:p>
          <a:p>
            <a:r>
              <a:rPr lang="es-ES" dirty="0"/>
              <a:t>"Ve a la base de datos y tráeme todos los productos"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CE5CD4-EDF6-B6A5-BE32-610C7E09D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498" y="131000"/>
            <a:ext cx="5756244" cy="3742441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CE5ED3B-28F9-C15A-DF9F-F0133402848A}"/>
              </a:ext>
            </a:extLst>
          </p:cNvPr>
          <p:cNvSpPr txBox="1">
            <a:spLocks/>
          </p:cNvSpPr>
          <p:nvPr/>
        </p:nvSpPr>
        <p:spPr>
          <a:xfrm>
            <a:off x="5544883" y="3628346"/>
            <a:ext cx="6400800" cy="3229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b="1" dirty="0"/>
              <a:t> 8. Respuesta HTTP</a:t>
            </a:r>
          </a:p>
          <a:p>
            <a:r>
              <a:rPr lang="es-ES" dirty="0" err="1"/>
              <a:t>return</a:t>
            </a:r>
            <a:r>
              <a:rPr lang="es-ES" dirty="0"/>
              <a:t> Ok(productos);</a:t>
            </a:r>
          </a:p>
          <a:p>
            <a:r>
              <a:rPr lang="es-ES" dirty="0"/>
              <a:t>👉 Devuelve:</a:t>
            </a:r>
          </a:p>
          <a:p>
            <a:r>
              <a:rPr lang="es-ES" dirty="0"/>
              <a:t>Código HTTP </a:t>
            </a:r>
            <a:r>
              <a:rPr lang="es-ES" b="1" dirty="0"/>
              <a:t>200 OK</a:t>
            </a:r>
            <a:r>
              <a:rPr lang="es-ES" dirty="0"/>
              <a:t> </a:t>
            </a:r>
          </a:p>
          <a:p>
            <a:r>
              <a:rPr lang="es-ES" dirty="0"/>
              <a:t>Con los productos en formato JSON </a:t>
            </a:r>
          </a:p>
          <a:p>
            <a:r>
              <a:rPr lang="es-ES" dirty="0"/>
              <a:t>Ejemplo de respuesta:</a:t>
            </a:r>
          </a:p>
          <a:p>
            <a:r>
              <a:rPr lang="es-ES" dirty="0"/>
              <a:t>[</a:t>
            </a:r>
            <a:br>
              <a:rPr lang="es-ES" dirty="0"/>
            </a:br>
            <a:r>
              <a:rPr lang="es-ES" dirty="0"/>
              <a:t>  { "id": 1, "nombre": "Laptop" },</a:t>
            </a:r>
            <a:br>
              <a:rPr lang="es-ES" dirty="0"/>
            </a:br>
            <a:r>
              <a:rPr lang="es-ES" dirty="0"/>
              <a:t>  { "id": 2, "nombre": "Mouse" }</a:t>
            </a:r>
            <a:br>
              <a:rPr lang="es-ES" dirty="0"/>
            </a:br>
            <a:r>
              <a:rPr lang="es-ES" dirty="0"/>
              <a:t>]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6488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AF6B4-930F-7CE4-A4CE-31B3BD60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50799"/>
            <a:ext cx="10009129" cy="791853"/>
          </a:xfrm>
        </p:spPr>
        <p:txBody>
          <a:bodyPr/>
          <a:lstStyle/>
          <a:p>
            <a:r>
              <a:rPr lang="es-MX" dirty="0"/>
              <a:t>¿Qué es </a:t>
            </a:r>
            <a:r>
              <a:rPr lang="es-MX" dirty="0" err="1"/>
              <a:t>Task</a:t>
            </a:r>
            <a:r>
              <a:rPr lang="es-MX" dirty="0"/>
              <a:t>&lt;</a:t>
            </a:r>
            <a:r>
              <a:rPr lang="es-MX" dirty="0" err="1"/>
              <a:t>IActionResult</a:t>
            </a:r>
            <a:r>
              <a:rPr lang="es-MX" dirty="0"/>
              <a:t>&gt;?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8465FD-3DA2-7A9A-A183-F26910993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893" y="842652"/>
            <a:ext cx="10515600" cy="5964549"/>
          </a:xfrm>
        </p:spPr>
        <p:txBody>
          <a:bodyPr>
            <a:normAutofit fontScale="55000" lnSpcReduction="20000"/>
          </a:bodyPr>
          <a:lstStyle/>
          <a:p>
            <a:r>
              <a:rPr lang="es-MX" dirty="0"/>
              <a:t>Cuando ves esto:</a:t>
            </a:r>
          </a:p>
          <a:p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async</a:t>
            </a:r>
            <a:r>
              <a:rPr lang="es-MX" dirty="0"/>
              <a:t> </a:t>
            </a:r>
            <a:r>
              <a:rPr lang="es-MX" dirty="0" err="1"/>
              <a:t>Task</a:t>
            </a:r>
            <a:r>
              <a:rPr lang="es-MX" dirty="0"/>
              <a:t>&lt;</a:t>
            </a:r>
            <a:r>
              <a:rPr lang="es-MX" dirty="0" err="1"/>
              <a:t>IActionResult</a:t>
            </a:r>
            <a:r>
              <a:rPr lang="es-MX" dirty="0"/>
              <a:t>&gt; </a:t>
            </a:r>
            <a:r>
              <a:rPr lang="es-MX" dirty="0" err="1"/>
              <a:t>Get</a:t>
            </a:r>
            <a:r>
              <a:rPr lang="es-MX" dirty="0"/>
              <a:t>()</a:t>
            </a:r>
          </a:p>
          <a:p>
            <a:r>
              <a:rPr lang="es-MX" dirty="0"/>
              <a:t>En realidad estás viendo </a:t>
            </a:r>
            <a:r>
              <a:rPr lang="es-MX" b="1" dirty="0"/>
              <a:t>2 cosas combinadas</a:t>
            </a:r>
            <a:r>
              <a:rPr lang="es-MX" dirty="0"/>
              <a:t>:</a:t>
            </a:r>
          </a:p>
          <a:p>
            <a:r>
              <a:rPr lang="es-MX" dirty="0"/>
              <a:t>👉 </a:t>
            </a:r>
            <a:r>
              <a:rPr lang="es-MX" dirty="0" err="1"/>
              <a:t>Task</a:t>
            </a:r>
            <a:br>
              <a:rPr lang="es-MX" dirty="0"/>
            </a:br>
            <a:r>
              <a:rPr lang="es-MX" dirty="0"/>
              <a:t>👉 </a:t>
            </a:r>
            <a:r>
              <a:rPr lang="es-MX" dirty="0" err="1"/>
              <a:t>IActionResult</a:t>
            </a:r>
            <a:br>
              <a:rPr lang="es-MX" dirty="0"/>
            </a:br>
            <a:endParaRPr lang="es-MX" dirty="0"/>
          </a:p>
          <a:p>
            <a:pPr marL="0" indent="0">
              <a:buNone/>
            </a:pPr>
            <a:r>
              <a:rPr lang="es-MX" b="1" dirty="0"/>
              <a:t> 1. ¿Qué es </a:t>
            </a:r>
            <a:r>
              <a:rPr lang="es-MX" b="1" dirty="0" err="1"/>
              <a:t>Task</a:t>
            </a:r>
            <a:r>
              <a:rPr lang="es-MX" b="1" dirty="0"/>
              <a:t>?</a:t>
            </a:r>
          </a:p>
          <a:p>
            <a:r>
              <a:rPr lang="es-MX" dirty="0" err="1"/>
              <a:t>Task</a:t>
            </a:r>
            <a:r>
              <a:rPr lang="es-MX" dirty="0"/>
              <a:t> significa:</a:t>
            </a:r>
          </a:p>
          <a:p>
            <a:r>
              <a:rPr lang="es-MX" dirty="0"/>
              <a:t>"Esta función se ejecuta de forma </a:t>
            </a:r>
            <a:r>
              <a:rPr lang="es-MX" b="1" dirty="0"/>
              <a:t>asíncrona</a:t>
            </a:r>
            <a:r>
              <a:rPr lang="es-MX" dirty="0"/>
              <a:t> (no bloquea el programa)"</a:t>
            </a:r>
          </a:p>
          <a:p>
            <a:pPr marL="0" indent="0">
              <a:buNone/>
            </a:pPr>
            <a:r>
              <a:rPr lang="es-MX" b="1" dirty="0"/>
              <a:t>Ejemplo sencillo</a:t>
            </a:r>
          </a:p>
          <a:p>
            <a:r>
              <a:rPr lang="es-MX" dirty="0"/>
              <a:t>Imagina que tu API va a la base de datos:</a:t>
            </a:r>
          </a:p>
          <a:p>
            <a:r>
              <a:rPr lang="es-MX" dirty="0"/>
              <a:t>❌ Sin </a:t>
            </a:r>
            <a:r>
              <a:rPr lang="es-MX" dirty="0" err="1"/>
              <a:t>Task</a:t>
            </a:r>
            <a:r>
              <a:rPr lang="es-MX" dirty="0"/>
              <a:t> (bloquea todo):</a:t>
            </a:r>
          </a:p>
          <a:p>
            <a:r>
              <a:rPr lang="es-MX" dirty="0"/>
              <a:t>El servidor se queda esperando </a:t>
            </a:r>
          </a:p>
          <a:p>
            <a:r>
              <a:rPr lang="es-MX" dirty="0"/>
              <a:t>No puede hacer nada más </a:t>
            </a:r>
          </a:p>
          <a:p>
            <a:r>
              <a:rPr lang="es-MX" dirty="0"/>
              <a:t>✅ Con </a:t>
            </a:r>
            <a:r>
              <a:rPr lang="es-MX" dirty="0" err="1"/>
              <a:t>Task</a:t>
            </a:r>
            <a:r>
              <a:rPr lang="es-MX" dirty="0"/>
              <a:t>:</a:t>
            </a:r>
          </a:p>
          <a:p>
            <a:r>
              <a:rPr lang="es-MX" dirty="0"/>
              <a:t>Puede atender otras peticiones mientras espera </a:t>
            </a:r>
            <a:br>
              <a:rPr lang="es-MX" dirty="0"/>
            </a:br>
            <a:endParaRPr lang="es-MX" dirty="0"/>
          </a:p>
          <a:p>
            <a:pPr marL="0" indent="0">
              <a:buNone/>
            </a:pPr>
            <a:r>
              <a:rPr lang="es-MX" b="1" dirty="0"/>
              <a:t> Analogía</a:t>
            </a:r>
          </a:p>
          <a:p>
            <a:r>
              <a:rPr lang="es-MX" dirty="0"/>
              <a:t>Es como pedir comida:</a:t>
            </a:r>
          </a:p>
          <a:p>
            <a:r>
              <a:rPr lang="es-MX" dirty="0"/>
              <a:t>Sin </a:t>
            </a:r>
            <a:r>
              <a:rPr lang="es-MX" dirty="0" err="1"/>
              <a:t>Task</a:t>
            </a:r>
            <a:r>
              <a:rPr lang="es-MX" dirty="0"/>
              <a:t>: te quedas parado en el restaurante esperando </a:t>
            </a:r>
          </a:p>
          <a:p>
            <a:r>
              <a:rPr lang="es-MX" dirty="0"/>
              <a:t>Con </a:t>
            </a:r>
            <a:r>
              <a:rPr lang="es-MX" dirty="0" err="1"/>
              <a:t>Task</a:t>
            </a:r>
            <a:r>
              <a:rPr lang="es-MX" dirty="0"/>
              <a:t>: pides y te sientas a hacer otra cosa mientras llega </a:t>
            </a:r>
            <a:br>
              <a:rPr lang="es-MX" dirty="0"/>
            </a:b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6C9F42-183B-E4D8-85F9-2A678A7E8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357" y="3148553"/>
            <a:ext cx="3223315" cy="2081108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A81D6A3-1D99-216B-E314-D6C004C08C13}"/>
              </a:ext>
            </a:extLst>
          </p:cNvPr>
          <p:cNvSpPr txBox="1">
            <a:spLocks/>
          </p:cNvSpPr>
          <p:nvPr/>
        </p:nvSpPr>
        <p:spPr>
          <a:xfrm>
            <a:off x="7787672" y="153185"/>
            <a:ext cx="3835577" cy="6654016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b="1" dirty="0"/>
              <a:t>🎯 2. ¿Qué es </a:t>
            </a:r>
            <a:r>
              <a:rPr lang="es-MX" b="1" dirty="0" err="1"/>
              <a:t>IActionResult</a:t>
            </a:r>
            <a:r>
              <a:rPr lang="es-MX" b="1" dirty="0"/>
              <a:t>?</a:t>
            </a:r>
          </a:p>
          <a:p>
            <a:r>
              <a:rPr lang="es-MX" dirty="0" err="1"/>
              <a:t>IActionResult</a:t>
            </a:r>
            <a:r>
              <a:rPr lang="es-MX" dirty="0"/>
              <a:t> significa:</a:t>
            </a:r>
          </a:p>
          <a:p>
            <a:r>
              <a:rPr lang="es-MX" dirty="0"/>
              <a:t>"El resultado que devuelve tu API al cliente"</a:t>
            </a:r>
          </a:p>
          <a:p>
            <a:r>
              <a:rPr lang="es-MX" dirty="0"/>
              <a:t>Puede ser muchas cosas:</a:t>
            </a:r>
          </a:p>
          <a:p>
            <a:pPr marL="0" indent="0">
              <a:buNone/>
            </a:pPr>
            <a:r>
              <a:rPr lang="es-MX" b="1" dirty="0"/>
              <a:t>🔹 Ejemplos</a:t>
            </a:r>
          </a:p>
          <a:p>
            <a:r>
              <a:rPr lang="es-MX" dirty="0" err="1"/>
              <a:t>return</a:t>
            </a:r>
            <a:r>
              <a:rPr lang="es-MX" dirty="0"/>
              <a:t> Ok();           // 200 OK</a:t>
            </a:r>
            <a:br>
              <a:rPr lang="es-MX" dirty="0"/>
            </a:br>
            <a:r>
              <a:rPr lang="es-MX" dirty="0" err="1"/>
              <a:t>return</a:t>
            </a:r>
            <a:r>
              <a:rPr lang="es-MX" dirty="0"/>
              <a:t> </a:t>
            </a:r>
            <a:r>
              <a:rPr lang="es-MX" dirty="0" err="1"/>
              <a:t>NotFound</a:t>
            </a:r>
            <a:r>
              <a:rPr lang="es-MX" dirty="0"/>
              <a:t>();     // 404</a:t>
            </a:r>
            <a:br>
              <a:rPr lang="es-MX" dirty="0"/>
            </a:br>
            <a:r>
              <a:rPr lang="es-MX" dirty="0" err="1"/>
              <a:t>return</a:t>
            </a:r>
            <a:r>
              <a:rPr lang="es-MX" dirty="0"/>
              <a:t> </a:t>
            </a:r>
            <a:r>
              <a:rPr lang="es-MX" dirty="0" err="1"/>
              <a:t>BadRequest</a:t>
            </a:r>
            <a:r>
              <a:rPr lang="es-MX" dirty="0"/>
              <a:t>();   // 400</a:t>
            </a:r>
            <a:br>
              <a:rPr lang="es-MX" dirty="0"/>
            </a:br>
            <a:r>
              <a:rPr lang="es-MX" dirty="0" err="1"/>
              <a:t>return</a:t>
            </a:r>
            <a:r>
              <a:rPr lang="es-MX" dirty="0"/>
              <a:t> Ok(productos);  // 200 + datos</a:t>
            </a:r>
          </a:p>
          <a:p>
            <a:pPr marL="0" indent="0">
              <a:buNone/>
            </a:pPr>
            <a:br>
              <a:rPr lang="es-MX" dirty="0"/>
            </a:br>
            <a:r>
              <a:rPr lang="es-MX" b="1" dirty="0"/>
              <a:t> Traducción simple:</a:t>
            </a:r>
          </a:p>
          <a:p>
            <a:r>
              <a:rPr lang="es-MX" dirty="0" err="1"/>
              <a:t>IActionResult</a:t>
            </a:r>
            <a:r>
              <a:rPr lang="es-MX" dirty="0"/>
              <a:t> = "la respuesta HTTP"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🔗 3. Entonces ¿qué significa TODO junto?</a:t>
            </a:r>
          </a:p>
          <a:p>
            <a:r>
              <a:rPr lang="es-MX" dirty="0" err="1"/>
              <a:t>Task</a:t>
            </a:r>
            <a:r>
              <a:rPr lang="es-MX" dirty="0"/>
              <a:t>&lt;</a:t>
            </a:r>
            <a:r>
              <a:rPr lang="es-MX" dirty="0" err="1"/>
              <a:t>IActionResult</a:t>
            </a:r>
            <a:r>
              <a:rPr lang="es-MX" dirty="0"/>
              <a:t>&gt;</a:t>
            </a:r>
          </a:p>
          <a:p>
            <a:r>
              <a:rPr lang="es-MX" dirty="0"/>
              <a:t>Significa:</a:t>
            </a:r>
          </a:p>
          <a:p>
            <a:r>
              <a:rPr lang="es-MX" dirty="0"/>
              <a:t>"Voy a devolver una respuesta HTTP, pero lo haré de forma asíncrona"</a:t>
            </a:r>
          </a:p>
          <a:p>
            <a:pPr marL="0" indent="0">
              <a:buNone/>
            </a:pPr>
            <a:r>
              <a:rPr lang="es-MX" b="1" dirty="0"/>
              <a:t> Ejemplo completo</a:t>
            </a:r>
          </a:p>
          <a:p>
            <a:r>
              <a:rPr lang="es-MX" dirty="0"/>
              <a:t>[</a:t>
            </a:r>
            <a:r>
              <a:rPr lang="es-MX" dirty="0" err="1"/>
              <a:t>HttpGet</a:t>
            </a:r>
            <a:r>
              <a:rPr lang="es-MX" dirty="0"/>
              <a:t>]</a:t>
            </a:r>
            <a:br>
              <a:rPr lang="es-MX" dirty="0"/>
            </a:b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async</a:t>
            </a:r>
            <a:r>
              <a:rPr lang="es-MX" dirty="0"/>
              <a:t> </a:t>
            </a:r>
            <a:r>
              <a:rPr lang="es-MX" dirty="0" err="1"/>
              <a:t>Task</a:t>
            </a:r>
            <a:r>
              <a:rPr lang="es-MX" dirty="0"/>
              <a:t>&lt;</a:t>
            </a:r>
            <a:r>
              <a:rPr lang="es-MX" dirty="0" err="1"/>
              <a:t>IActionResult</a:t>
            </a:r>
            <a:r>
              <a:rPr lang="es-MX" dirty="0"/>
              <a:t>&gt; </a:t>
            </a:r>
            <a:r>
              <a:rPr lang="es-MX" dirty="0" err="1"/>
              <a:t>Get</a:t>
            </a:r>
            <a:r>
              <a:rPr lang="es-MX" dirty="0"/>
              <a:t>()</a:t>
            </a:r>
            <a:br>
              <a:rPr lang="es-MX" dirty="0"/>
            </a:br>
            <a:r>
              <a:rPr lang="es-MX" dirty="0"/>
              <a:t>{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var</a:t>
            </a:r>
            <a:r>
              <a:rPr lang="es-MX" dirty="0"/>
              <a:t> productos = </a:t>
            </a:r>
            <a:r>
              <a:rPr lang="es-MX" dirty="0" err="1"/>
              <a:t>await</a:t>
            </a:r>
            <a:r>
              <a:rPr lang="es-MX" dirty="0"/>
              <a:t> _</a:t>
            </a:r>
            <a:r>
              <a:rPr lang="es-MX" dirty="0" err="1"/>
              <a:t>context.Productos.ToListAsync</a:t>
            </a:r>
            <a:r>
              <a:rPr lang="es-MX" dirty="0"/>
              <a:t>();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return</a:t>
            </a:r>
            <a:r>
              <a:rPr lang="es-MX" dirty="0"/>
              <a:t> Ok(productos);</a:t>
            </a:r>
            <a:br>
              <a:rPr lang="es-MX" dirty="0"/>
            </a:br>
            <a:r>
              <a:rPr lang="es-MX" dirty="0"/>
              <a:t>}</a:t>
            </a:r>
          </a:p>
          <a:p>
            <a:r>
              <a:rPr lang="es-MX" dirty="0"/>
              <a:t>👉 Traducción en español:</a:t>
            </a:r>
          </a:p>
          <a:p>
            <a:r>
              <a:rPr lang="es-MX" dirty="0" err="1"/>
              <a:t>async</a:t>
            </a:r>
            <a:r>
              <a:rPr lang="es-MX" dirty="0"/>
              <a:t> → este método es asíncrono </a:t>
            </a:r>
          </a:p>
          <a:p>
            <a:r>
              <a:rPr lang="es-MX" dirty="0" err="1"/>
              <a:t>Task</a:t>
            </a:r>
            <a:r>
              <a:rPr lang="es-MX" dirty="0"/>
              <a:t> → puede tardar (como ir a la BD) </a:t>
            </a:r>
          </a:p>
          <a:p>
            <a:r>
              <a:rPr lang="es-MX" dirty="0" err="1"/>
              <a:t>IActionResult</a:t>
            </a:r>
            <a:r>
              <a:rPr lang="es-MX" dirty="0"/>
              <a:t> → devolverá una respuesta HTTP </a:t>
            </a:r>
          </a:p>
          <a:p>
            <a:r>
              <a:rPr lang="es-MX" dirty="0" err="1"/>
              <a:t>await</a:t>
            </a:r>
            <a:r>
              <a:rPr lang="es-MX" dirty="0"/>
              <a:t> → espera el resultado sin bloquear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16981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13CE9-0194-DDFA-7BDE-E12627D7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MX" dirty="0"/>
              <a:t>PUT </a:t>
            </a:r>
            <a:r>
              <a:rPr lang="es-ES" dirty="0"/>
              <a:t>Es un </a:t>
            </a:r>
            <a:r>
              <a:rPr lang="es-ES" dirty="0" err="1"/>
              <a:t>endpoint</a:t>
            </a:r>
            <a:r>
              <a:rPr lang="es-ES" dirty="0"/>
              <a:t> </a:t>
            </a:r>
            <a:r>
              <a:rPr lang="es-ES" b="1" dirty="0"/>
              <a:t>PUT</a:t>
            </a:r>
            <a:r>
              <a:rPr lang="es-ES" dirty="0"/>
              <a:t> en ASP.NET Core para </a:t>
            </a:r>
            <a:r>
              <a:rPr lang="es-ES" b="1" dirty="0"/>
              <a:t>actualizar un producto en la base de datos</a:t>
            </a:r>
            <a:r>
              <a:rPr lang="es-ES" dirty="0"/>
              <a:t>.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C025C3-A353-FB70-8D6C-BC6CC65B1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64" y="1379308"/>
            <a:ext cx="3791712" cy="5094327"/>
          </a:xfrm>
        </p:spPr>
        <p:txBody>
          <a:bodyPr>
            <a:noAutofit/>
          </a:bodyPr>
          <a:lstStyle/>
          <a:p>
            <a:r>
              <a:rPr lang="es-MX" sz="1400" b="1" dirty="0"/>
              <a:t>🔹 [</a:t>
            </a:r>
            <a:r>
              <a:rPr lang="es-MX" sz="1400" b="1" dirty="0" err="1"/>
              <a:t>HttpPut</a:t>
            </a:r>
            <a:r>
              <a:rPr lang="es-MX" sz="1400" b="1" dirty="0"/>
              <a:t>("{id}")]</a:t>
            </a:r>
          </a:p>
          <a:p>
            <a:r>
              <a:rPr lang="es-MX" sz="1400" dirty="0"/>
              <a:t>👉 Define la ruta</a:t>
            </a:r>
          </a:p>
          <a:p>
            <a:r>
              <a:rPr lang="es-MX" sz="1400" dirty="0"/>
              <a:t>Ejemplo de llamada:</a:t>
            </a:r>
          </a:p>
          <a:p>
            <a:r>
              <a:rPr lang="es-MX" sz="1400" dirty="0"/>
              <a:t>PUT /api/productos/5</a:t>
            </a:r>
          </a:p>
          <a:p>
            <a:r>
              <a:rPr lang="es-MX" sz="1400" dirty="0"/>
              <a:t>✔ El 5 se guarda en el parámetro id</a:t>
            </a:r>
          </a:p>
          <a:p>
            <a:br>
              <a:rPr lang="es-MX" sz="1400" dirty="0"/>
            </a:br>
            <a:endParaRPr lang="es-MX" sz="1400" dirty="0"/>
          </a:p>
          <a:p>
            <a:r>
              <a:rPr lang="es-MX" sz="1400" b="1" dirty="0"/>
              <a:t>🔹 </a:t>
            </a:r>
            <a:r>
              <a:rPr lang="es-MX" sz="1400" b="1" dirty="0" err="1"/>
              <a:t>Put</a:t>
            </a:r>
            <a:r>
              <a:rPr lang="es-MX" sz="1400" b="1" dirty="0"/>
              <a:t>(</a:t>
            </a:r>
            <a:r>
              <a:rPr lang="es-MX" sz="1400" b="1" dirty="0" err="1"/>
              <a:t>int</a:t>
            </a:r>
            <a:r>
              <a:rPr lang="es-MX" sz="1400" b="1" dirty="0"/>
              <a:t> id, Productos producto)</a:t>
            </a:r>
          </a:p>
          <a:p>
            <a:r>
              <a:rPr lang="es-MX" sz="1400" dirty="0"/>
              <a:t>👉 Recibe dos cosas:</a:t>
            </a:r>
          </a:p>
          <a:p>
            <a:r>
              <a:rPr lang="es-MX" sz="1400" dirty="0"/>
              <a:t>id → viene de la URL </a:t>
            </a:r>
          </a:p>
          <a:p>
            <a:r>
              <a:rPr lang="es-MX" sz="1400" dirty="0"/>
              <a:t>producto → viene del </a:t>
            </a:r>
            <a:r>
              <a:rPr lang="es-MX" sz="1400" b="1" dirty="0" err="1"/>
              <a:t>body</a:t>
            </a:r>
            <a:r>
              <a:rPr lang="es-MX" sz="1400" b="1" dirty="0"/>
              <a:t> (JSON)</a:t>
            </a:r>
            <a:r>
              <a:rPr lang="es-MX" sz="1400" dirty="0"/>
              <a:t> </a:t>
            </a:r>
          </a:p>
          <a:p>
            <a:r>
              <a:rPr lang="es-MX" sz="1400" dirty="0"/>
              <a:t>Ejemplo JSON:</a:t>
            </a:r>
          </a:p>
          <a:p>
            <a:r>
              <a:rPr lang="es-MX" sz="1400" dirty="0"/>
              <a:t>{</a:t>
            </a:r>
            <a:br>
              <a:rPr lang="es-MX" sz="1400" dirty="0"/>
            </a:br>
            <a:r>
              <a:rPr lang="es-MX" sz="1400" dirty="0"/>
              <a:t>  "</a:t>
            </a:r>
            <a:r>
              <a:rPr lang="es-MX" sz="1400" dirty="0" err="1"/>
              <a:t>idProducto</a:t>
            </a:r>
            <a:r>
              <a:rPr lang="es-MX" sz="1400" dirty="0"/>
              <a:t>": 5,</a:t>
            </a:r>
            <a:br>
              <a:rPr lang="es-MX" sz="1400" dirty="0"/>
            </a:br>
            <a:r>
              <a:rPr lang="es-MX" sz="1400" dirty="0"/>
              <a:t>  "nombre": "Laptop",</a:t>
            </a:r>
            <a:br>
              <a:rPr lang="es-MX" sz="1400" dirty="0"/>
            </a:br>
            <a:r>
              <a:rPr lang="es-MX" sz="1400" dirty="0"/>
              <a:t>  "precio": 1000</a:t>
            </a:r>
            <a:br>
              <a:rPr lang="es-MX" sz="1400" dirty="0"/>
            </a:br>
            <a:r>
              <a:rPr lang="es-MX" sz="1400" dirty="0"/>
              <a:t>}</a:t>
            </a:r>
          </a:p>
          <a:p>
            <a:pPr marL="0" indent="0">
              <a:buNone/>
            </a:pPr>
            <a:endParaRPr lang="es-MX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07B35F-5834-078E-6356-9E62B353E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0" y="4736179"/>
            <a:ext cx="4572000" cy="2015085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CE0930D-A410-E7AE-58C4-26F9A4925FF8}"/>
              </a:ext>
            </a:extLst>
          </p:cNvPr>
          <p:cNvSpPr txBox="1">
            <a:spLocks/>
          </p:cNvSpPr>
          <p:nvPr/>
        </p:nvSpPr>
        <p:spPr>
          <a:xfrm>
            <a:off x="6742176" y="1379308"/>
            <a:ext cx="2919984" cy="464077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  <a:p>
            <a:r>
              <a:rPr lang="es-MX" b="1" dirty="0"/>
              <a:t>🔹 Marcar como modificado</a:t>
            </a:r>
          </a:p>
          <a:p>
            <a:r>
              <a:rPr lang="es-MX" dirty="0"/>
              <a:t>_</a:t>
            </a:r>
            <a:r>
              <a:rPr lang="es-MX" dirty="0" err="1"/>
              <a:t>context.Entry</a:t>
            </a:r>
            <a:r>
              <a:rPr lang="es-MX" dirty="0"/>
              <a:t>(producto).</a:t>
            </a:r>
            <a:r>
              <a:rPr lang="es-MX" dirty="0" err="1"/>
              <a:t>State</a:t>
            </a:r>
            <a:r>
              <a:rPr lang="es-MX" dirty="0"/>
              <a:t> = </a:t>
            </a:r>
            <a:r>
              <a:rPr lang="es-MX" dirty="0" err="1"/>
              <a:t>EntityState.Modified</a:t>
            </a:r>
            <a:r>
              <a:rPr lang="es-MX" dirty="0"/>
              <a:t>;</a:t>
            </a:r>
          </a:p>
          <a:p>
            <a:r>
              <a:rPr lang="es-MX" dirty="0"/>
              <a:t>👉 Le dices a </a:t>
            </a:r>
            <a:r>
              <a:rPr lang="es-MX" dirty="0" err="1"/>
              <a:t>Entity</a:t>
            </a:r>
            <a:r>
              <a:rPr lang="es-MX" dirty="0"/>
              <a:t> Framework Core:</a:t>
            </a:r>
          </a:p>
          <a:p>
            <a:r>
              <a:rPr lang="es-MX" dirty="0"/>
              <a:t>“Este objeto ya existe, solo actualízalo”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🔹 Guardar cambios</a:t>
            </a:r>
          </a:p>
          <a:p>
            <a:r>
              <a:rPr lang="es-MX" dirty="0" err="1"/>
              <a:t>await</a:t>
            </a:r>
            <a:r>
              <a:rPr lang="es-MX" dirty="0"/>
              <a:t> _</a:t>
            </a:r>
            <a:r>
              <a:rPr lang="es-MX" dirty="0" err="1"/>
              <a:t>context.SaveChangesAsync</a:t>
            </a:r>
            <a:r>
              <a:rPr lang="es-MX" dirty="0"/>
              <a:t>();</a:t>
            </a:r>
          </a:p>
          <a:p>
            <a:r>
              <a:rPr lang="es-MX" dirty="0"/>
              <a:t>👉 Ejecuta el UPDATE en la base de datos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🔹 </a:t>
            </a:r>
            <a:r>
              <a:rPr lang="es-MX" b="1" dirty="0" err="1"/>
              <a:t>return</a:t>
            </a:r>
            <a:r>
              <a:rPr lang="es-MX" b="1" dirty="0"/>
              <a:t> </a:t>
            </a:r>
            <a:r>
              <a:rPr lang="es-MX" b="1" dirty="0" err="1"/>
              <a:t>NoContent</a:t>
            </a:r>
            <a:r>
              <a:rPr lang="es-MX" b="1" dirty="0"/>
              <a:t>();</a:t>
            </a:r>
          </a:p>
          <a:p>
            <a:r>
              <a:rPr lang="es-MX" dirty="0"/>
              <a:t>👉 Devuelve:</a:t>
            </a:r>
          </a:p>
          <a:p>
            <a:r>
              <a:rPr lang="es-MX" dirty="0"/>
              <a:t>HTTP 204 No Content</a:t>
            </a:r>
          </a:p>
          <a:p>
            <a:r>
              <a:rPr lang="es-MX" dirty="0"/>
              <a:t>✔ Significa:</a:t>
            </a:r>
          </a:p>
          <a:p>
            <a:r>
              <a:rPr lang="es-MX" dirty="0"/>
              <a:t>Se actualizó correctamente </a:t>
            </a:r>
          </a:p>
          <a:p>
            <a:r>
              <a:rPr lang="es-MX" dirty="0"/>
              <a:t>No devuelve datos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2DFA418-6DF2-0569-B35D-732D8BDDB022}"/>
              </a:ext>
            </a:extLst>
          </p:cNvPr>
          <p:cNvSpPr txBox="1">
            <a:spLocks/>
          </p:cNvSpPr>
          <p:nvPr/>
        </p:nvSpPr>
        <p:spPr>
          <a:xfrm>
            <a:off x="3489960" y="1481011"/>
            <a:ext cx="3791712" cy="5094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 dirty="0"/>
              <a:t>🔹 Validación</a:t>
            </a:r>
          </a:p>
          <a:p>
            <a:r>
              <a:rPr lang="es-MX" sz="1400" dirty="0" err="1"/>
              <a:t>if</a:t>
            </a:r>
            <a:r>
              <a:rPr lang="es-MX" sz="1400" dirty="0"/>
              <a:t> (id != </a:t>
            </a:r>
            <a:r>
              <a:rPr lang="es-MX" sz="1400" dirty="0" err="1"/>
              <a:t>producto.IdProducto</a:t>
            </a:r>
            <a:r>
              <a:rPr lang="es-MX" sz="1400" dirty="0"/>
              <a:t>)</a:t>
            </a:r>
            <a:br>
              <a:rPr lang="es-MX" sz="1400" dirty="0"/>
            </a:br>
            <a:r>
              <a:rPr lang="es-MX" sz="1400" dirty="0"/>
              <a:t>    </a:t>
            </a:r>
            <a:r>
              <a:rPr lang="es-MX" sz="1400" dirty="0" err="1"/>
              <a:t>return</a:t>
            </a:r>
            <a:r>
              <a:rPr lang="es-MX" sz="1400" dirty="0"/>
              <a:t> </a:t>
            </a:r>
            <a:r>
              <a:rPr lang="es-MX" sz="1400" dirty="0" err="1"/>
              <a:t>BadRequest</a:t>
            </a:r>
            <a:r>
              <a:rPr lang="es-MX" sz="1400" dirty="0"/>
              <a:t>();</a:t>
            </a:r>
          </a:p>
          <a:p>
            <a:r>
              <a:rPr lang="es-MX" sz="1400" dirty="0"/>
              <a:t>👉 Verifica que:</a:t>
            </a:r>
          </a:p>
          <a:p>
            <a:r>
              <a:rPr lang="es-MX" sz="1400" dirty="0"/>
              <a:t>el ID de la URL </a:t>
            </a:r>
          </a:p>
          <a:p>
            <a:r>
              <a:rPr lang="es-MX" sz="1400" dirty="0"/>
              <a:t>y el ID del objeto </a:t>
            </a:r>
          </a:p>
          <a:p>
            <a:r>
              <a:rPr lang="es-MX" sz="1400" b="1" dirty="0"/>
              <a:t>sean iguales</a:t>
            </a:r>
            <a:endParaRPr lang="es-MX" sz="1400" dirty="0"/>
          </a:p>
          <a:p>
            <a:r>
              <a:rPr lang="es-MX" sz="1400" dirty="0"/>
              <a:t>✔ Si no:</a:t>
            </a:r>
            <a:br>
              <a:rPr lang="es-MX" sz="1400" dirty="0"/>
            </a:br>
            <a:r>
              <a:rPr lang="es-MX" sz="1400" dirty="0"/>
              <a:t>→ devuelve </a:t>
            </a:r>
            <a:r>
              <a:rPr lang="es-MX" sz="1400" b="1" dirty="0"/>
              <a:t>400 </a:t>
            </a:r>
            <a:r>
              <a:rPr lang="es-MX" sz="1400" b="1" dirty="0" err="1"/>
              <a:t>Bad</a:t>
            </a:r>
            <a:r>
              <a:rPr lang="es-MX" sz="1400" b="1" dirty="0"/>
              <a:t> </a:t>
            </a:r>
            <a:r>
              <a:rPr lang="es-MX" sz="1400" b="1" dirty="0" err="1"/>
              <a:t>Request</a:t>
            </a:r>
            <a:endParaRPr lang="es-MX" sz="1400" dirty="0"/>
          </a:p>
          <a:p>
            <a:pPr marL="0" indent="0">
              <a:buFont typeface="Arial" panose="020B0604020202020204" pitchFamily="34" charset="0"/>
              <a:buNone/>
            </a:pP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0094196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66858-5A76-C603-A4E2-EE38084C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RELACION 1  A MUCHOS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6B67A9-166D-F782-6144-1B691BA6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609084-186A-AF21-5FC3-EF9637EF0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584" y="1343025"/>
            <a:ext cx="10079216" cy="491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285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694946-7B53-6B70-B69E-743C5D324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304" y="243712"/>
            <a:ext cx="6504432" cy="6522848"/>
          </a:xfrm>
        </p:spPr>
        <p:txBody>
          <a:bodyPr>
            <a:normAutofit fontScale="70000" lnSpcReduction="20000"/>
          </a:bodyPr>
          <a:lstStyle/>
          <a:p>
            <a:r>
              <a:rPr lang="es-MX" dirty="0"/>
              <a:t>Este error es </a:t>
            </a:r>
            <a:r>
              <a:rPr lang="es-MX" b="1" dirty="0"/>
              <a:t>muy típico</a:t>
            </a:r>
            <a:r>
              <a:rPr lang="es-MX" dirty="0"/>
              <a:t> cuando trabajas con relaciones en </a:t>
            </a:r>
            <a:r>
              <a:rPr lang="es-MX" b="1" dirty="0" err="1"/>
              <a:t>Entity</a:t>
            </a:r>
            <a:r>
              <a:rPr lang="es-MX" b="1" dirty="0"/>
              <a:t> Framework Core</a:t>
            </a:r>
            <a:r>
              <a:rPr lang="es-MX" dirty="0"/>
              <a:t> y devuelves entidades directamente en una API de </a:t>
            </a:r>
            <a:r>
              <a:rPr lang="es-MX" b="1" dirty="0"/>
              <a:t>ASP.NET Core</a:t>
            </a:r>
            <a:r>
              <a:rPr lang="es-MX" dirty="0"/>
              <a:t>.</a:t>
            </a:r>
            <a:br>
              <a:rPr lang="es-MX" dirty="0"/>
            </a:br>
            <a:endParaRPr lang="es-MX" dirty="0"/>
          </a:p>
          <a:p>
            <a:r>
              <a:rPr lang="es-MX" b="1" dirty="0"/>
              <a:t>🚨 Error explicado fácil</a:t>
            </a:r>
          </a:p>
          <a:p>
            <a:r>
              <a:rPr lang="es-MX" b="1" dirty="0"/>
              <a:t>“A </a:t>
            </a:r>
            <a:r>
              <a:rPr lang="es-MX" b="1" dirty="0" err="1"/>
              <a:t>possible</a:t>
            </a:r>
            <a:r>
              <a:rPr lang="es-MX" b="1" dirty="0"/>
              <a:t> </a:t>
            </a:r>
            <a:r>
              <a:rPr lang="es-MX" b="1" dirty="0" err="1"/>
              <a:t>object</a:t>
            </a:r>
            <a:r>
              <a:rPr lang="es-MX" b="1" dirty="0"/>
              <a:t> </a:t>
            </a:r>
            <a:r>
              <a:rPr lang="es-MX" b="1" dirty="0" err="1"/>
              <a:t>cycle</a:t>
            </a:r>
            <a:r>
              <a:rPr lang="es-MX" b="1" dirty="0"/>
              <a:t> </a:t>
            </a:r>
            <a:r>
              <a:rPr lang="es-MX" b="1" dirty="0" err="1"/>
              <a:t>was</a:t>
            </a:r>
            <a:r>
              <a:rPr lang="es-MX" b="1" dirty="0"/>
              <a:t> </a:t>
            </a:r>
            <a:r>
              <a:rPr lang="es-MX" b="1" dirty="0" err="1"/>
              <a:t>detected</a:t>
            </a:r>
            <a:r>
              <a:rPr lang="es-MX" b="1" dirty="0"/>
              <a:t>…”</a:t>
            </a:r>
            <a:endParaRPr lang="es-MX" dirty="0"/>
          </a:p>
          <a:p>
            <a:r>
              <a:rPr lang="es-MX" dirty="0"/>
              <a:t>👉 Significa que tienes un </a:t>
            </a:r>
            <a:r>
              <a:rPr lang="es-MX" b="1" dirty="0"/>
              <a:t>ciclo infinito</a:t>
            </a:r>
            <a:r>
              <a:rPr lang="es-MX" dirty="0"/>
              <a:t> en tus objetos.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🧠 🔁 ¿Qué es un ciclo?</a:t>
            </a:r>
          </a:p>
          <a:p>
            <a:r>
              <a:rPr lang="es-MX" dirty="0"/>
              <a:t>Ejemplo clásico:</a:t>
            </a:r>
          </a:p>
          <a:p>
            <a:r>
              <a:rPr lang="es-MX" b="1" dirty="0"/>
              <a:t>👇 Tus entidades (simplificado)</a:t>
            </a:r>
          </a:p>
          <a:p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class</a:t>
            </a:r>
            <a:r>
              <a:rPr lang="es-MX" dirty="0"/>
              <a:t> Usuario</a:t>
            </a:r>
            <a:br>
              <a:rPr lang="es-MX" dirty="0"/>
            </a:br>
            <a:r>
              <a:rPr lang="es-MX" dirty="0"/>
              <a:t>{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int</a:t>
            </a:r>
            <a:r>
              <a:rPr lang="es-MX" dirty="0"/>
              <a:t> </a:t>
            </a:r>
            <a:r>
              <a:rPr lang="es-MX" dirty="0" err="1"/>
              <a:t>IdUsuario</a:t>
            </a:r>
            <a:r>
              <a:rPr lang="es-MX" dirty="0"/>
              <a:t>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List</a:t>
            </a:r>
            <a:r>
              <a:rPr lang="es-MX" dirty="0"/>
              <a:t>&lt;Pedido&gt; Pedidos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}</a:t>
            </a:r>
            <a:br>
              <a:rPr lang="es-MX" dirty="0"/>
            </a:br>
            <a:br>
              <a:rPr lang="es-MX" dirty="0"/>
            </a:b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class</a:t>
            </a:r>
            <a:r>
              <a:rPr lang="es-MX" dirty="0"/>
              <a:t> Pedido</a:t>
            </a:r>
            <a:br>
              <a:rPr lang="es-MX" dirty="0"/>
            </a:br>
            <a:r>
              <a:rPr lang="es-MX" dirty="0"/>
              <a:t>{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int</a:t>
            </a:r>
            <a:r>
              <a:rPr lang="es-MX" dirty="0"/>
              <a:t> </a:t>
            </a:r>
            <a:r>
              <a:rPr lang="es-MX" dirty="0" err="1"/>
              <a:t>IdPedido</a:t>
            </a:r>
            <a:r>
              <a:rPr lang="es-MX" dirty="0"/>
              <a:t>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Usuario </a:t>
            </a:r>
            <a:r>
              <a:rPr lang="es-MX" dirty="0" err="1"/>
              <a:t>Usuario</a:t>
            </a:r>
            <a:r>
              <a:rPr lang="es-MX" dirty="0"/>
              <a:t>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}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AC57E8-7DA5-8612-9FE2-C59376685149}"/>
              </a:ext>
            </a:extLst>
          </p:cNvPr>
          <p:cNvSpPr txBox="1"/>
          <p:nvPr/>
        </p:nvSpPr>
        <p:spPr>
          <a:xfrm>
            <a:off x="7507224" y="552855"/>
            <a:ext cx="428853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s-MX" dirty="0"/>
          </a:p>
          <a:p>
            <a:r>
              <a:rPr lang="es-MX" b="1" dirty="0"/>
              <a:t>🔁 ¿Qué pasa al serializar?</a:t>
            </a:r>
          </a:p>
          <a:p>
            <a:r>
              <a:rPr lang="es-MX" dirty="0"/>
              <a:t>Cuando haces:</a:t>
            </a:r>
          </a:p>
          <a:p>
            <a:r>
              <a:rPr lang="es-MX" dirty="0" err="1"/>
              <a:t>return</a:t>
            </a:r>
            <a:r>
              <a:rPr lang="es-MX" dirty="0"/>
              <a:t> Ok(pedido);</a:t>
            </a:r>
          </a:p>
          <a:p>
            <a:r>
              <a:rPr lang="es-MX" dirty="0"/>
              <a:t>El JSON intenta hacer esto:</a:t>
            </a:r>
          </a:p>
          <a:p>
            <a:r>
              <a:rPr lang="es-MX" dirty="0"/>
              <a:t>Pedido</a:t>
            </a:r>
            <a:br>
              <a:rPr lang="es-MX" dirty="0"/>
            </a:br>
            <a:r>
              <a:rPr lang="es-MX" dirty="0"/>
              <a:t> └── Usuario</a:t>
            </a:r>
            <a:br>
              <a:rPr lang="es-MX" dirty="0"/>
            </a:br>
            <a:r>
              <a:rPr lang="es-MX" dirty="0"/>
              <a:t>      └── Pedidos</a:t>
            </a:r>
            <a:br>
              <a:rPr lang="es-MX" dirty="0"/>
            </a:br>
            <a:r>
              <a:rPr lang="es-MX" dirty="0"/>
              <a:t>           └── Usuario</a:t>
            </a:r>
            <a:br>
              <a:rPr lang="es-MX" dirty="0"/>
            </a:br>
            <a:r>
              <a:rPr lang="es-MX" dirty="0"/>
              <a:t>                └── Pedidos</a:t>
            </a:r>
            <a:br>
              <a:rPr lang="es-MX" dirty="0"/>
            </a:br>
            <a:r>
              <a:rPr lang="es-MX" dirty="0"/>
              <a:t>                     └── Usuario</a:t>
            </a:r>
            <a:br>
              <a:rPr lang="es-MX" dirty="0"/>
            </a:br>
            <a:r>
              <a:rPr lang="es-MX" dirty="0"/>
              <a:t>                         ...</a:t>
            </a:r>
          </a:p>
          <a:p>
            <a:r>
              <a:rPr lang="es-MX" dirty="0"/>
              <a:t>👉 💥 </a:t>
            </a:r>
            <a:r>
              <a:rPr lang="es-MX" b="1" dirty="0" err="1"/>
              <a:t>loop</a:t>
            </a:r>
            <a:r>
              <a:rPr lang="es-MX" b="1" dirty="0"/>
              <a:t> infinito</a:t>
            </a:r>
            <a:endParaRPr lang="es-MX" dirty="0"/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🔥 Por eso aparece:</a:t>
            </a:r>
          </a:p>
          <a:p>
            <a:r>
              <a:rPr lang="es-MX" dirty="0"/>
              <a:t>Pedidos → Usuarios → Pedidos → Usuarios → ...</a:t>
            </a:r>
          </a:p>
        </p:txBody>
      </p:sp>
    </p:spTree>
    <p:extLst>
      <p:ext uri="{BB962C8B-B14F-4D97-AF65-F5344CB8AC3E}">
        <p14:creationId xmlns:p14="http://schemas.microsoft.com/office/powerpoint/2010/main" val="35796047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EB62B-2CA0-0D9D-5B9E-0AC338F7D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"/>
            <a:ext cx="8250936" cy="653873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✅ SOLUCIONES (de mejor a peor)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583606-FFB7-A016-BE3E-DD78844EC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58" y="762024"/>
            <a:ext cx="3225546" cy="51815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100" b="1" dirty="0"/>
              <a:t>🥇 Opción 1: Usar </a:t>
            </a:r>
            <a:r>
              <a:rPr lang="es-MX" sz="1100" b="1" dirty="0" err="1"/>
              <a:t>DTOs</a:t>
            </a:r>
            <a:r>
              <a:rPr lang="es-MX" sz="1100" b="1" dirty="0"/>
              <a:t> (RECOMENDADO)</a:t>
            </a:r>
          </a:p>
          <a:p>
            <a:pPr marL="0" indent="0">
              <a:buNone/>
            </a:pPr>
            <a:r>
              <a:rPr lang="es-MX" sz="1100" dirty="0"/>
              <a:t>👉 No devuelvas entidades completas</a:t>
            </a:r>
          </a:p>
          <a:p>
            <a:r>
              <a:rPr lang="es-MX" sz="1100" b="1" dirty="0"/>
              <a:t>✔ Ejemplo:</a:t>
            </a:r>
          </a:p>
          <a:p>
            <a:r>
              <a:rPr lang="es-MX" sz="1100" dirty="0" err="1"/>
              <a:t>public</a:t>
            </a:r>
            <a:r>
              <a:rPr lang="es-MX" sz="1100" dirty="0"/>
              <a:t> </a:t>
            </a:r>
            <a:r>
              <a:rPr lang="es-MX" sz="1100" dirty="0" err="1"/>
              <a:t>class</a:t>
            </a:r>
            <a:r>
              <a:rPr lang="es-MX" sz="1100" dirty="0"/>
              <a:t> </a:t>
            </a:r>
            <a:r>
              <a:rPr lang="es-MX" sz="1100" dirty="0" err="1"/>
              <a:t>PedidoDTO</a:t>
            </a:r>
            <a:br>
              <a:rPr lang="es-MX" sz="1100" dirty="0"/>
            </a:br>
            <a:r>
              <a:rPr lang="es-MX" sz="1100" dirty="0"/>
              <a:t>{</a:t>
            </a:r>
            <a:br>
              <a:rPr lang="es-MX" sz="1100" dirty="0"/>
            </a:br>
            <a:r>
              <a:rPr lang="es-MX" sz="1100" dirty="0"/>
              <a:t>    </a:t>
            </a:r>
            <a:r>
              <a:rPr lang="es-MX" sz="1100" dirty="0" err="1"/>
              <a:t>public</a:t>
            </a:r>
            <a:r>
              <a:rPr lang="es-MX" sz="1100" dirty="0"/>
              <a:t> </a:t>
            </a:r>
            <a:r>
              <a:rPr lang="es-MX" sz="1100" dirty="0" err="1"/>
              <a:t>int</a:t>
            </a:r>
            <a:r>
              <a:rPr lang="es-MX" sz="1100" dirty="0"/>
              <a:t> </a:t>
            </a:r>
            <a:r>
              <a:rPr lang="es-MX" sz="1100" dirty="0" err="1"/>
              <a:t>IdPedido</a:t>
            </a:r>
            <a:r>
              <a:rPr lang="es-MX" sz="1100" dirty="0"/>
              <a:t> { </a:t>
            </a:r>
            <a:r>
              <a:rPr lang="es-MX" sz="1100" dirty="0" err="1"/>
              <a:t>get</a:t>
            </a:r>
            <a:r>
              <a:rPr lang="es-MX" sz="1100" dirty="0"/>
              <a:t>; set; }</a:t>
            </a:r>
            <a:br>
              <a:rPr lang="es-MX" sz="1100" dirty="0"/>
            </a:br>
            <a:r>
              <a:rPr lang="es-MX" sz="1100" dirty="0"/>
              <a:t>    </a:t>
            </a:r>
            <a:r>
              <a:rPr lang="es-MX" sz="1100" dirty="0" err="1"/>
              <a:t>public</a:t>
            </a:r>
            <a:r>
              <a:rPr lang="es-MX" sz="1100" dirty="0"/>
              <a:t> </a:t>
            </a:r>
            <a:r>
              <a:rPr lang="es-MX" sz="1100" dirty="0" err="1"/>
              <a:t>string</a:t>
            </a:r>
            <a:r>
              <a:rPr lang="es-MX" sz="1100" dirty="0"/>
              <a:t> </a:t>
            </a:r>
            <a:r>
              <a:rPr lang="es-MX" sz="1100" dirty="0" err="1"/>
              <a:t>NombreUsuario</a:t>
            </a:r>
            <a:r>
              <a:rPr lang="es-MX" sz="1100" dirty="0"/>
              <a:t> { </a:t>
            </a:r>
            <a:r>
              <a:rPr lang="es-MX" sz="1100" dirty="0" err="1"/>
              <a:t>get</a:t>
            </a:r>
            <a:r>
              <a:rPr lang="es-MX" sz="1100" dirty="0"/>
              <a:t>; set; }</a:t>
            </a:r>
            <a:br>
              <a:rPr lang="es-MX" sz="1100" dirty="0"/>
            </a:br>
            <a:r>
              <a:rPr lang="es-MX" sz="1100" dirty="0"/>
              <a:t>}</a:t>
            </a:r>
          </a:p>
          <a:p>
            <a:r>
              <a:rPr lang="es-MX" sz="1100" dirty="0" err="1"/>
              <a:t>var</a:t>
            </a:r>
            <a:r>
              <a:rPr lang="es-MX" sz="1100" dirty="0"/>
              <a:t> pedido = _</a:t>
            </a:r>
            <a:r>
              <a:rPr lang="es-MX" sz="1100" dirty="0" err="1"/>
              <a:t>context.Pedidos</a:t>
            </a:r>
            <a:br>
              <a:rPr lang="es-MX" sz="1100" dirty="0"/>
            </a:br>
            <a:r>
              <a:rPr lang="es-MX" sz="1100" dirty="0"/>
              <a:t>    .</a:t>
            </a:r>
            <a:r>
              <a:rPr lang="es-MX" sz="1100" dirty="0" err="1"/>
              <a:t>Include</a:t>
            </a:r>
            <a:r>
              <a:rPr lang="es-MX" sz="1100" dirty="0"/>
              <a:t>(p =&gt; </a:t>
            </a:r>
            <a:r>
              <a:rPr lang="es-MX" sz="1100" dirty="0" err="1"/>
              <a:t>p.Usuario</a:t>
            </a:r>
            <a:r>
              <a:rPr lang="es-MX" sz="1100" dirty="0"/>
              <a:t>)</a:t>
            </a:r>
            <a:br>
              <a:rPr lang="es-MX" sz="1100" dirty="0"/>
            </a:br>
            <a:r>
              <a:rPr lang="es-MX" sz="1100" dirty="0"/>
              <a:t>    .</a:t>
            </a:r>
            <a:r>
              <a:rPr lang="es-MX" sz="1100" dirty="0" err="1"/>
              <a:t>Select</a:t>
            </a:r>
            <a:r>
              <a:rPr lang="es-MX" sz="1100" dirty="0"/>
              <a:t>(p =&gt; new </a:t>
            </a:r>
            <a:r>
              <a:rPr lang="es-MX" sz="1100" dirty="0" err="1"/>
              <a:t>PedidoDTO</a:t>
            </a:r>
            <a:br>
              <a:rPr lang="es-MX" sz="1100" dirty="0"/>
            </a:br>
            <a:r>
              <a:rPr lang="es-MX" sz="1100" dirty="0"/>
              <a:t>    {</a:t>
            </a:r>
            <a:br>
              <a:rPr lang="es-MX" sz="1100" dirty="0"/>
            </a:br>
            <a:r>
              <a:rPr lang="es-MX" sz="1100" dirty="0"/>
              <a:t>        </a:t>
            </a:r>
            <a:r>
              <a:rPr lang="es-MX" sz="1100" dirty="0" err="1"/>
              <a:t>IdPedido</a:t>
            </a:r>
            <a:r>
              <a:rPr lang="es-MX" sz="1100" dirty="0"/>
              <a:t> = </a:t>
            </a:r>
            <a:r>
              <a:rPr lang="es-MX" sz="1100" dirty="0" err="1"/>
              <a:t>p.IdPedido</a:t>
            </a:r>
            <a:r>
              <a:rPr lang="es-MX" sz="1100" dirty="0"/>
              <a:t>,</a:t>
            </a:r>
            <a:br>
              <a:rPr lang="es-MX" sz="1100" dirty="0"/>
            </a:br>
            <a:r>
              <a:rPr lang="es-MX" sz="1100" dirty="0"/>
              <a:t>        </a:t>
            </a:r>
            <a:r>
              <a:rPr lang="es-MX" sz="1100" dirty="0" err="1"/>
              <a:t>NombreUsuario</a:t>
            </a:r>
            <a:r>
              <a:rPr lang="es-MX" sz="1100" dirty="0"/>
              <a:t> = </a:t>
            </a:r>
            <a:r>
              <a:rPr lang="es-MX" sz="1100" dirty="0" err="1"/>
              <a:t>p.Usuario.Nombre</a:t>
            </a:r>
            <a:br>
              <a:rPr lang="es-MX" sz="1100" dirty="0"/>
            </a:br>
            <a:r>
              <a:rPr lang="es-MX" sz="1100" dirty="0"/>
              <a:t>    })</a:t>
            </a:r>
            <a:br>
              <a:rPr lang="es-MX" sz="1100" dirty="0"/>
            </a:br>
            <a:r>
              <a:rPr lang="es-MX" sz="1100" dirty="0"/>
              <a:t>    .</a:t>
            </a:r>
            <a:r>
              <a:rPr lang="es-MX" sz="1100" dirty="0" err="1"/>
              <a:t>FirstOrDefault</a:t>
            </a:r>
            <a:r>
              <a:rPr lang="es-MX" sz="1100" dirty="0"/>
              <a:t>();</a:t>
            </a:r>
            <a:br>
              <a:rPr lang="es-MX" sz="1100" dirty="0"/>
            </a:br>
            <a:br>
              <a:rPr lang="es-MX" sz="1100" dirty="0"/>
            </a:br>
            <a:r>
              <a:rPr lang="es-MX" sz="1100" dirty="0" err="1"/>
              <a:t>return</a:t>
            </a:r>
            <a:r>
              <a:rPr lang="es-MX" sz="1100" dirty="0"/>
              <a:t> Ok(pedido);</a:t>
            </a:r>
          </a:p>
          <a:p>
            <a:r>
              <a:rPr lang="es-MX" sz="1100" dirty="0"/>
              <a:t>✔ Evitas ciclos</a:t>
            </a:r>
            <a:br>
              <a:rPr lang="es-MX" sz="1100" dirty="0"/>
            </a:br>
            <a:r>
              <a:rPr lang="es-MX" sz="1100" dirty="0"/>
              <a:t>✔ Mejor práctica profesional</a:t>
            </a:r>
            <a:br>
              <a:rPr lang="es-MX" sz="1100" dirty="0"/>
            </a:br>
            <a:endParaRPr lang="es-MX" sz="1100" dirty="0"/>
          </a:p>
          <a:p>
            <a:r>
              <a:rPr lang="es-MX" sz="1100" b="1" dirty="0"/>
              <a:t>🥈 Opción 2: Ignorar propiedades (rápido)</a:t>
            </a:r>
          </a:p>
          <a:p>
            <a:r>
              <a:rPr lang="es-MX" sz="1100" dirty="0" err="1"/>
              <a:t>using</a:t>
            </a:r>
            <a:r>
              <a:rPr lang="es-MX" sz="1100" dirty="0"/>
              <a:t> </a:t>
            </a:r>
            <a:r>
              <a:rPr lang="es-MX" sz="1100" dirty="0" err="1"/>
              <a:t>System.Text.Json.Serialization</a:t>
            </a:r>
            <a:r>
              <a:rPr lang="es-MX" sz="1100" dirty="0"/>
              <a:t>;</a:t>
            </a:r>
            <a:br>
              <a:rPr lang="es-MX" sz="1100" dirty="0"/>
            </a:br>
            <a:br>
              <a:rPr lang="es-MX" sz="1100" dirty="0"/>
            </a:br>
            <a:r>
              <a:rPr lang="es-MX" sz="1100" dirty="0" err="1"/>
              <a:t>public</a:t>
            </a:r>
            <a:r>
              <a:rPr lang="es-MX" sz="1100" dirty="0"/>
              <a:t> </a:t>
            </a:r>
            <a:r>
              <a:rPr lang="es-MX" sz="1100" dirty="0" err="1"/>
              <a:t>class</a:t>
            </a:r>
            <a:r>
              <a:rPr lang="es-MX" sz="1100" dirty="0"/>
              <a:t> Usuario</a:t>
            </a:r>
            <a:br>
              <a:rPr lang="es-MX" sz="1100" dirty="0"/>
            </a:br>
            <a:r>
              <a:rPr lang="es-MX" sz="1100" dirty="0"/>
              <a:t>{</a:t>
            </a:r>
            <a:br>
              <a:rPr lang="es-MX" sz="1100" dirty="0"/>
            </a:br>
            <a:r>
              <a:rPr lang="es-MX" sz="1100" dirty="0"/>
              <a:t>    </a:t>
            </a:r>
            <a:r>
              <a:rPr lang="es-MX" sz="1100" dirty="0" err="1"/>
              <a:t>public</a:t>
            </a:r>
            <a:r>
              <a:rPr lang="es-MX" sz="1100" dirty="0"/>
              <a:t> </a:t>
            </a:r>
            <a:r>
              <a:rPr lang="es-MX" sz="1100" dirty="0" err="1"/>
              <a:t>int</a:t>
            </a:r>
            <a:r>
              <a:rPr lang="es-MX" sz="1100" dirty="0"/>
              <a:t> </a:t>
            </a:r>
            <a:r>
              <a:rPr lang="es-MX" sz="1100" dirty="0" err="1"/>
              <a:t>IdUsuario</a:t>
            </a:r>
            <a:r>
              <a:rPr lang="es-MX" sz="1100" dirty="0"/>
              <a:t> { </a:t>
            </a:r>
            <a:r>
              <a:rPr lang="es-MX" sz="1100" dirty="0" err="1"/>
              <a:t>get</a:t>
            </a:r>
            <a:r>
              <a:rPr lang="es-MX" sz="1100" dirty="0"/>
              <a:t>; set; }</a:t>
            </a:r>
            <a:br>
              <a:rPr lang="es-MX" sz="1100" dirty="0"/>
            </a:br>
            <a:br>
              <a:rPr lang="es-MX" sz="1100" dirty="0"/>
            </a:br>
            <a:r>
              <a:rPr lang="es-MX" sz="1100" dirty="0"/>
              <a:t>    [</a:t>
            </a:r>
            <a:r>
              <a:rPr lang="es-MX" sz="1100" dirty="0" err="1"/>
              <a:t>JsonIgnore</a:t>
            </a:r>
            <a:r>
              <a:rPr lang="es-MX" sz="1100" dirty="0"/>
              <a:t>]</a:t>
            </a:r>
            <a:br>
              <a:rPr lang="es-MX" sz="1100" dirty="0"/>
            </a:br>
            <a:r>
              <a:rPr lang="es-MX" sz="1100" dirty="0"/>
              <a:t>    </a:t>
            </a:r>
            <a:r>
              <a:rPr lang="es-MX" sz="1100" dirty="0" err="1"/>
              <a:t>public</a:t>
            </a:r>
            <a:r>
              <a:rPr lang="es-MX" sz="1100" dirty="0"/>
              <a:t> </a:t>
            </a:r>
            <a:r>
              <a:rPr lang="es-MX" sz="1100" dirty="0" err="1"/>
              <a:t>List</a:t>
            </a:r>
            <a:r>
              <a:rPr lang="es-MX" sz="1100" dirty="0"/>
              <a:t>&lt;Pedido&gt; Pedidos { </a:t>
            </a:r>
            <a:r>
              <a:rPr lang="es-MX" sz="1100" dirty="0" err="1"/>
              <a:t>get</a:t>
            </a:r>
            <a:r>
              <a:rPr lang="es-MX" sz="1100" dirty="0"/>
              <a:t>; set; }</a:t>
            </a:r>
            <a:br>
              <a:rPr lang="es-MX" sz="1100" dirty="0"/>
            </a:br>
            <a:r>
              <a:rPr lang="es-MX" sz="1100" dirty="0"/>
              <a:t>}</a:t>
            </a:r>
          </a:p>
          <a:p>
            <a:r>
              <a:rPr lang="es-MX" sz="1100" dirty="0"/>
              <a:t>👉 Rompes el ciclo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7AFC66-8E55-3E83-7D6E-7E04BD742DBF}"/>
              </a:ext>
            </a:extLst>
          </p:cNvPr>
          <p:cNvSpPr txBox="1"/>
          <p:nvPr/>
        </p:nvSpPr>
        <p:spPr>
          <a:xfrm>
            <a:off x="3502152" y="816888"/>
            <a:ext cx="4434840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500" dirty="0"/>
          </a:p>
          <a:p>
            <a:r>
              <a:rPr lang="es-MX" sz="1500" b="1" dirty="0"/>
              <a:t>🥉 Opción 3: Configurar JSON globalmente</a:t>
            </a:r>
          </a:p>
          <a:p>
            <a:r>
              <a:rPr lang="es-MX" sz="1500" dirty="0"/>
              <a:t>En </a:t>
            </a:r>
            <a:r>
              <a:rPr lang="es-MX" sz="1500" dirty="0" err="1"/>
              <a:t>Program.cs</a:t>
            </a:r>
            <a:r>
              <a:rPr lang="es-MX" sz="1500" dirty="0"/>
              <a:t>:</a:t>
            </a:r>
          </a:p>
          <a:p>
            <a:r>
              <a:rPr lang="es-MX" sz="1500" dirty="0" err="1"/>
              <a:t>builder.Services.AddControllers</a:t>
            </a:r>
            <a:r>
              <a:rPr lang="es-MX" sz="1500" dirty="0"/>
              <a:t>()</a:t>
            </a:r>
            <a:br>
              <a:rPr lang="es-MX" sz="1500" dirty="0"/>
            </a:br>
            <a:r>
              <a:rPr lang="es-MX" sz="1500" dirty="0"/>
              <a:t>    .</a:t>
            </a:r>
            <a:r>
              <a:rPr lang="es-MX" sz="1500" dirty="0" err="1"/>
              <a:t>AddJsonOptions</a:t>
            </a:r>
            <a:r>
              <a:rPr lang="es-MX" sz="1500" dirty="0"/>
              <a:t>(</a:t>
            </a:r>
            <a:r>
              <a:rPr lang="es-MX" sz="1500" dirty="0" err="1"/>
              <a:t>options</a:t>
            </a:r>
            <a:r>
              <a:rPr lang="es-MX" sz="1500" dirty="0"/>
              <a:t> =&gt;</a:t>
            </a:r>
            <a:br>
              <a:rPr lang="es-MX" sz="1500" dirty="0"/>
            </a:br>
            <a:r>
              <a:rPr lang="es-MX" sz="1500" dirty="0"/>
              <a:t>    {</a:t>
            </a:r>
            <a:br>
              <a:rPr lang="es-MX" sz="1500" dirty="0"/>
            </a:br>
            <a:r>
              <a:rPr lang="es-MX" sz="1500" dirty="0"/>
              <a:t>        </a:t>
            </a:r>
            <a:r>
              <a:rPr lang="es-MX" sz="1500" dirty="0" err="1"/>
              <a:t>options.JsonSerializerOptions.ReferenceHandler</a:t>
            </a:r>
            <a:r>
              <a:rPr lang="es-MX" sz="1500" dirty="0"/>
              <a:t> = </a:t>
            </a:r>
            <a:br>
              <a:rPr lang="es-MX" sz="1500" dirty="0"/>
            </a:br>
            <a:r>
              <a:rPr lang="es-MX" sz="1500" dirty="0"/>
              <a:t>            </a:t>
            </a:r>
            <a:r>
              <a:rPr lang="es-MX" sz="1500" dirty="0" err="1"/>
              <a:t>System.Text.Json.Serialization.ReferenceHandler.Preserve</a:t>
            </a:r>
            <a:r>
              <a:rPr lang="es-MX" sz="1500" dirty="0"/>
              <a:t>;</a:t>
            </a:r>
            <a:br>
              <a:rPr lang="es-MX" sz="1500" dirty="0"/>
            </a:br>
            <a:r>
              <a:rPr lang="es-MX" sz="1500" dirty="0"/>
              <a:t>    });</a:t>
            </a:r>
          </a:p>
          <a:p>
            <a:r>
              <a:rPr lang="es-MX" sz="1500" dirty="0"/>
              <a:t>✔ Funciona</a:t>
            </a:r>
            <a:br>
              <a:rPr lang="es-MX" sz="1500" dirty="0"/>
            </a:br>
            <a:r>
              <a:rPr lang="es-MX" sz="1500" dirty="0"/>
              <a:t>❗ Pero el JSON se vuelve raro (con $id, $</a:t>
            </a:r>
            <a:r>
              <a:rPr lang="es-MX" sz="1500" dirty="0" err="1"/>
              <a:t>ref</a:t>
            </a:r>
            <a:r>
              <a:rPr lang="es-MX" sz="1500" dirty="0"/>
              <a:t>)</a:t>
            </a:r>
          </a:p>
          <a:p>
            <a:br>
              <a:rPr lang="es-MX" sz="1500" dirty="0"/>
            </a:br>
            <a:endParaRPr lang="es-MX" sz="1500" dirty="0"/>
          </a:p>
          <a:p>
            <a:r>
              <a:rPr lang="es-MX" sz="1500" b="1" dirty="0"/>
              <a:t>⚠️ Opción 4: Limitar </a:t>
            </a:r>
            <a:r>
              <a:rPr lang="es-MX" sz="1500" b="1" dirty="0" err="1"/>
              <a:t>Include</a:t>
            </a:r>
            <a:endParaRPr lang="es-MX" sz="1500" b="1" dirty="0"/>
          </a:p>
          <a:p>
            <a:r>
              <a:rPr lang="es-MX" sz="1500" dirty="0"/>
              <a:t>A veces el problema es que haces:</a:t>
            </a:r>
          </a:p>
          <a:p>
            <a:r>
              <a:rPr lang="es-MX" sz="1500" dirty="0"/>
              <a:t>.</a:t>
            </a:r>
            <a:r>
              <a:rPr lang="es-MX" sz="1500" dirty="0" err="1"/>
              <a:t>Include</a:t>
            </a:r>
            <a:r>
              <a:rPr lang="es-MX" sz="1500" dirty="0"/>
              <a:t>(p =&gt; </a:t>
            </a:r>
            <a:r>
              <a:rPr lang="es-MX" sz="1500" dirty="0" err="1"/>
              <a:t>p.Usuario</a:t>
            </a:r>
            <a:r>
              <a:rPr lang="es-MX" sz="1500" dirty="0"/>
              <a:t>)</a:t>
            </a:r>
            <a:br>
              <a:rPr lang="es-MX" sz="1500" dirty="0"/>
            </a:br>
            <a:r>
              <a:rPr lang="es-MX" sz="1500" dirty="0"/>
              <a:t>.</a:t>
            </a:r>
            <a:r>
              <a:rPr lang="es-MX" sz="1500" dirty="0" err="1"/>
              <a:t>ThenInclude</a:t>
            </a:r>
            <a:r>
              <a:rPr lang="es-MX" sz="1500" dirty="0"/>
              <a:t>(u =&gt; </a:t>
            </a:r>
            <a:r>
              <a:rPr lang="es-MX" sz="1500" dirty="0" err="1"/>
              <a:t>u.Pedidos</a:t>
            </a:r>
            <a:r>
              <a:rPr lang="es-MX" sz="1500" dirty="0"/>
              <a:t>)</a:t>
            </a:r>
          </a:p>
          <a:p>
            <a:r>
              <a:rPr lang="es-MX" sz="1500" dirty="0"/>
              <a:t>👉 Eso genera el ciclo</a:t>
            </a:r>
          </a:p>
          <a:p>
            <a:br>
              <a:rPr lang="es-MX" sz="1500" dirty="0"/>
            </a:br>
            <a:endParaRPr lang="es-MX" sz="15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E5FC87-6823-6F9C-4338-9CE3AEF71682}"/>
              </a:ext>
            </a:extLst>
          </p:cNvPr>
          <p:cNvSpPr txBox="1"/>
          <p:nvPr/>
        </p:nvSpPr>
        <p:spPr>
          <a:xfrm>
            <a:off x="8202168" y="662782"/>
            <a:ext cx="386867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🧠 Recomendación real (importante)</a:t>
            </a:r>
          </a:p>
          <a:p>
            <a:r>
              <a:rPr lang="es-MX" dirty="0"/>
              <a:t>👉 En </a:t>
            </a:r>
            <a:r>
              <a:rPr lang="es-MX" dirty="0" err="1"/>
              <a:t>APIs</a:t>
            </a:r>
            <a:r>
              <a:rPr lang="es-MX" dirty="0"/>
              <a:t>:</a:t>
            </a:r>
          </a:p>
          <a:p>
            <a:r>
              <a:rPr lang="es-MX" dirty="0"/>
              <a:t>❌ NO devuelvas entidades EF directamente</a:t>
            </a:r>
            <a:br>
              <a:rPr lang="es-MX" dirty="0"/>
            </a:br>
            <a:r>
              <a:rPr lang="es-MX" dirty="0"/>
              <a:t>✅ SIEMPRE usa </a:t>
            </a:r>
            <a:r>
              <a:rPr lang="es-MX" dirty="0" err="1"/>
              <a:t>DTOs</a:t>
            </a:r>
            <a:endParaRPr lang="es-MX" dirty="0"/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🚀 Resumen claro</a:t>
            </a:r>
          </a:p>
          <a:p>
            <a:r>
              <a:rPr lang="es-MX" dirty="0"/>
              <a:t>🔴 Error = ciclo infinito en relaciones </a:t>
            </a:r>
          </a:p>
          <a:p>
            <a:r>
              <a:rPr lang="es-MX" dirty="0"/>
              <a:t>🔁 Usuario ↔ Pedido </a:t>
            </a:r>
          </a:p>
          <a:p>
            <a:r>
              <a:rPr lang="es-MX" dirty="0"/>
              <a:t>💥 JSON no puede serializar </a:t>
            </a:r>
          </a:p>
          <a:p>
            <a:r>
              <a:rPr lang="es-MX" b="1" dirty="0"/>
              <a:t>Soluciones:</a:t>
            </a:r>
          </a:p>
          <a:p>
            <a:r>
              <a:rPr lang="es-MX" dirty="0"/>
              <a:t>✅ </a:t>
            </a:r>
            <a:r>
              <a:rPr lang="es-MX" dirty="0" err="1"/>
              <a:t>DTOs</a:t>
            </a:r>
            <a:r>
              <a:rPr lang="es-MX" dirty="0"/>
              <a:t> (mejor) </a:t>
            </a:r>
          </a:p>
          <a:p>
            <a:r>
              <a:rPr lang="es-MX" dirty="0"/>
              <a:t>✅ [</a:t>
            </a:r>
            <a:r>
              <a:rPr lang="es-MX" dirty="0" err="1"/>
              <a:t>JsonIgnore</a:t>
            </a:r>
            <a:r>
              <a:rPr lang="es-MX" dirty="0"/>
              <a:t>] </a:t>
            </a:r>
          </a:p>
          <a:p>
            <a:r>
              <a:rPr lang="es-MX" dirty="0"/>
              <a:t>⚠️ </a:t>
            </a:r>
            <a:r>
              <a:rPr lang="es-MX" dirty="0" err="1"/>
              <a:t>ReferenceHandler.Preserve</a:t>
            </a:r>
            <a:r>
              <a:rPr lang="es-MX" dirty="0"/>
              <a:t> 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dirty="0"/>
              <a:t>Si quieres, mándame:</a:t>
            </a:r>
          </a:p>
          <a:p>
            <a:r>
              <a:rPr lang="es-MX" dirty="0"/>
              <a:t>tus clases (Usuario, Pedido, etc.) </a:t>
            </a:r>
          </a:p>
          <a:p>
            <a:r>
              <a:rPr lang="es-MX" dirty="0"/>
              <a:t>y te las convierto a DTO correctamente (nivel pro) 🔥</a:t>
            </a:r>
          </a:p>
        </p:txBody>
      </p:sp>
    </p:spTree>
    <p:extLst>
      <p:ext uri="{BB962C8B-B14F-4D97-AF65-F5344CB8AC3E}">
        <p14:creationId xmlns:p14="http://schemas.microsoft.com/office/powerpoint/2010/main" val="1590698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DC9F66-33D0-AD5E-1DC1-F46EA91E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48" y="307720"/>
            <a:ext cx="4931663" cy="5974207"/>
          </a:xfrm>
        </p:spPr>
        <p:txBody>
          <a:bodyPr>
            <a:normAutofit fontScale="55000" lnSpcReduction="20000"/>
          </a:bodyPr>
          <a:lstStyle/>
          <a:p>
            <a:r>
              <a:rPr lang="es-MX" b="1" dirty="0"/>
              <a:t>🥇 Usar </a:t>
            </a:r>
            <a:r>
              <a:rPr lang="es-MX" b="1" dirty="0" err="1"/>
              <a:t>DTOs</a:t>
            </a:r>
            <a:r>
              <a:rPr lang="es-MX" b="1" dirty="0"/>
              <a:t> (Data Transfer </a:t>
            </a:r>
            <a:r>
              <a:rPr lang="es-MX" b="1" dirty="0" err="1"/>
              <a:t>Objects</a:t>
            </a:r>
            <a:r>
              <a:rPr lang="es-MX" b="1" dirty="0"/>
              <a:t>)</a:t>
            </a:r>
          </a:p>
          <a:p>
            <a:r>
              <a:rPr lang="es-MX" dirty="0"/>
              <a:t>👉 Es la práctica correcta cuando trabajas con </a:t>
            </a:r>
            <a:r>
              <a:rPr lang="es-MX" b="1" dirty="0"/>
              <a:t>ASP.NET Core</a:t>
            </a:r>
            <a:r>
              <a:rPr lang="es-MX" dirty="0"/>
              <a:t> + </a:t>
            </a:r>
            <a:r>
              <a:rPr lang="es-MX" b="1" dirty="0" err="1"/>
              <a:t>Entity</a:t>
            </a:r>
            <a:r>
              <a:rPr lang="es-MX" b="1" dirty="0"/>
              <a:t> Framework Core</a:t>
            </a:r>
            <a:endParaRPr lang="es-MX" dirty="0"/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🧠 ¿Por qué es la mejor?</a:t>
            </a:r>
          </a:p>
          <a:p>
            <a:r>
              <a:rPr lang="es-MX" dirty="0"/>
              <a:t>Porque soluciona TODO esto de una vez:</a:t>
            </a:r>
          </a:p>
          <a:p>
            <a:r>
              <a:rPr lang="es-MX" dirty="0"/>
              <a:t>✅ Evita ciclos infinitos</a:t>
            </a:r>
            <a:br>
              <a:rPr lang="es-MX" dirty="0"/>
            </a:br>
            <a:r>
              <a:rPr lang="es-MX" dirty="0"/>
              <a:t>✅ Controlas exactamente qué datos envías</a:t>
            </a:r>
            <a:br>
              <a:rPr lang="es-MX" dirty="0"/>
            </a:br>
            <a:r>
              <a:rPr lang="es-MX" dirty="0"/>
              <a:t>✅ No expones tu base de datos</a:t>
            </a:r>
            <a:br>
              <a:rPr lang="es-MX" dirty="0"/>
            </a:br>
            <a:r>
              <a:rPr lang="es-MX" dirty="0"/>
              <a:t>✅ Mejor rendimiento</a:t>
            </a:r>
            <a:br>
              <a:rPr lang="es-MX" dirty="0"/>
            </a:br>
            <a:r>
              <a:rPr lang="es-MX" dirty="0"/>
              <a:t>✅ Código más limpio y profesional</a:t>
            </a:r>
          </a:p>
          <a:p>
            <a:pPr marL="0" indent="0">
              <a:buNone/>
            </a:pPr>
            <a:br>
              <a:rPr lang="es-MX" dirty="0"/>
            </a:br>
            <a:endParaRPr lang="es-MX" dirty="0"/>
          </a:p>
          <a:p>
            <a:r>
              <a:rPr lang="es-MX" b="1" dirty="0"/>
              <a:t>🔥 Comparación real</a:t>
            </a:r>
          </a:p>
          <a:p>
            <a:r>
              <a:rPr lang="es-MX" b="1" dirty="0"/>
              <a:t>❌ Devolver entidades (mala práctica)</a:t>
            </a:r>
          </a:p>
          <a:p>
            <a:r>
              <a:rPr lang="es-MX" dirty="0" err="1"/>
              <a:t>return</a:t>
            </a:r>
            <a:r>
              <a:rPr lang="es-MX" dirty="0"/>
              <a:t> Ok(pedido);</a:t>
            </a:r>
          </a:p>
          <a:p>
            <a:r>
              <a:rPr lang="es-MX" dirty="0"/>
              <a:t>Problemas:</a:t>
            </a:r>
          </a:p>
          <a:p>
            <a:r>
              <a:rPr lang="es-MX" dirty="0"/>
              <a:t>Ciclos 🔁 </a:t>
            </a:r>
          </a:p>
          <a:p>
            <a:r>
              <a:rPr lang="es-MX" dirty="0"/>
              <a:t>Demasiada información </a:t>
            </a:r>
          </a:p>
          <a:p>
            <a:r>
              <a:rPr lang="es-MX" dirty="0"/>
              <a:t>Posibles errores JSON </a:t>
            </a:r>
          </a:p>
          <a:p>
            <a:pPr marL="0" indent="0">
              <a:buNone/>
            </a:pPr>
            <a:br>
              <a:rPr lang="es-MX" dirty="0"/>
            </a:b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7ACE20-2BF4-86C6-2D3F-866CEC1108A1}"/>
              </a:ext>
            </a:extLst>
          </p:cNvPr>
          <p:cNvSpPr txBox="1"/>
          <p:nvPr/>
        </p:nvSpPr>
        <p:spPr>
          <a:xfrm>
            <a:off x="5696711" y="225425"/>
            <a:ext cx="318211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  <a:p>
            <a:r>
              <a:rPr lang="es-MX" b="1" dirty="0"/>
              <a:t>✅ Usar DTO (correcto)</a:t>
            </a:r>
          </a:p>
          <a:p>
            <a:r>
              <a:rPr lang="es-MX" dirty="0" err="1"/>
              <a:t>return</a:t>
            </a:r>
            <a:r>
              <a:rPr lang="es-MX" dirty="0"/>
              <a:t> Ok(</a:t>
            </a:r>
            <a:r>
              <a:rPr lang="es-MX" dirty="0" err="1"/>
              <a:t>pedidoDTO</a:t>
            </a:r>
            <a:r>
              <a:rPr lang="es-MX" dirty="0"/>
              <a:t>);</a:t>
            </a:r>
          </a:p>
          <a:p>
            <a:r>
              <a:rPr lang="es-MX" dirty="0"/>
              <a:t>👉 Solo mandas lo necesario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🧩 Ejemplo claro</a:t>
            </a:r>
          </a:p>
          <a:p>
            <a:r>
              <a:rPr lang="es-MX" b="1" dirty="0"/>
              <a:t>🎯 Entidades (problema)</a:t>
            </a:r>
          </a:p>
          <a:p>
            <a:r>
              <a:rPr lang="es-MX" dirty="0"/>
              <a:t>Usuario → Pedidos → Usuario → Pedidos 🔁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b="1" dirty="0"/>
              <a:t>✅ DTO limpio</a:t>
            </a:r>
          </a:p>
          <a:p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PedidoDTO</a:t>
            </a:r>
            <a:br>
              <a:rPr lang="es-MX" dirty="0"/>
            </a:br>
            <a:r>
              <a:rPr lang="es-MX" dirty="0"/>
              <a:t>{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int</a:t>
            </a:r>
            <a:r>
              <a:rPr lang="es-MX" dirty="0"/>
              <a:t> </a:t>
            </a:r>
            <a:r>
              <a:rPr lang="es-MX" dirty="0" err="1"/>
              <a:t>IdPedido</a:t>
            </a:r>
            <a:r>
              <a:rPr lang="es-MX" dirty="0"/>
              <a:t>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string</a:t>
            </a:r>
            <a:r>
              <a:rPr lang="es-MX" dirty="0"/>
              <a:t> </a:t>
            </a:r>
            <a:r>
              <a:rPr lang="es-MX" dirty="0" err="1"/>
              <a:t>NombreUsuario</a:t>
            </a:r>
            <a:r>
              <a:rPr lang="es-MX" dirty="0"/>
              <a:t>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}</a:t>
            </a:r>
          </a:p>
          <a:p>
            <a:br>
              <a:rPr lang="es-MX" dirty="0"/>
            </a:b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C7BFD7-8AD1-F31D-9EAF-37953596C029}"/>
              </a:ext>
            </a:extLst>
          </p:cNvPr>
          <p:cNvSpPr txBox="1"/>
          <p:nvPr/>
        </p:nvSpPr>
        <p:spPr>
          <a:xfrm>
            <a:off x="8878822" y="1222351"/>
            <a:ext cx="31821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  <a:p>
            <a:r>
              <a:rPr lang="es-MX" b="1" dirty="0"/>
              <a:t>🔹 </a:t>
            </a:r>
            <a:r>
              <a:rPr lang="es-MX" b="1" dirty="0" err="1"/>
              <a:t>Query</a:t>
            </a:r>
            <a:r>
              <a:rPr lang="es-MX" b="1" dirty="0"/>
              <a:t> correcta</a:t>
            </a:r>
          </a:p>
          <a:p>
            <a:r>
              <a:rPr lang="es-MX" dirty="0" err="1"/>
              <a:t>var</a:t>
            </a:r>
            <a:r>
              <a:rPr lang="es-MX" dirty="0"/>
              <a:t> pedido = _</a:t>
            </a:r>
            <a:r>
              <a:rPr lang="es-MX" dirty="0" err="1"/>
              <a:t>context.Pedidos</a:t>
            </a:r>
            <a:br>
              <a:rPr lang="es-MX" dirty="0"/>
            </a:br>
            <a:r>
              <a:rPr lang="es-MX" dirty="0"/>
              <a:t>    .</a:t>
            </a:r>
            <a:r>
              <a:rPr lang="es-MX" dirty="0" err="1"/>
              <a:t>Include</a:t>
            </a:r>
            <a:r>
              <a:rPr lang="es-MX" dirty="0"/>
              <a:t>(p =&gt; </a:t>
            </a:r>
            <a:r>
              <a:rPr lang="es-MX" dirty="0" err="1"/>
              <a:t>p.Usuario</a:t>
            </a:r>
            <a:r>
              <a:rPr lang="es-MX" dirty="0"/>
              <a:t>)</a:t>
            </a:r>
            <a:br>
              <a:rPr lang="es-MX" dirty="0"/>
            </a:br>
            <a:r>
              <a:rPr lang="es-MX" dirty="0"/>
              <a:t>    .</a:t>
            </a:r>
            <a:r>
              <a:rPr lang="es-MX" dirty="0" err="1"/>
              <a:t>Select</a:t>
            </a:r>
            <a:r>
              <a:rPr lang="es-MX" dirty="0"/>
              <a:t>(p =&gt; new </a:t>
            </a:r>
            <a:r>
              <a:rPr lang="es-MX" dirty="0" err="1"/>
              <a:t>PedidoDTO</a:t>
            </a:r>
            <a:br>
              <a:rPr lang="es-MX" dirty="0"/>
            </a:br>
            <a:r>
              <a:rPr lang="es-MX" dirty="0"/>
              <a:t>    {</a:t>
            </a:r>
            <a:br>
              <a:rPr lang="es-MX" dirty="0"/>
            </a:br>
            <a:r>
              <a:rPr lang="es-MX" dirty="0"/>
              <a:t>        </a:t>
            </a:r>
            <a:r>
              <a:rPr lang="es-MX" dirty="0" err="1"/>
              <a:t>IdPedido</a:t>
            </a:r>
            <a:r>
              <a:rPr lang="es-MX" dirty="0"/>
              <a:t> = </a:t>
            </a:r>
            <a:r>
              <a:rPr lang="es-MX" dirty="0" err="1"/>
              <a:t>p.IdPedido</a:t>
            </a:r>
            <a:r>
              <a:rPr lang="es-MX" dirty="0"/>
              <a:t>,</a:t>
            </a:r>
            <a:br>
              <a:rPr lang="es-MX" dirty="0"/>
            </a:br>
            <a:r>
              <a:rPr lang="es-MX" dirty="0"/>
              <a:t>        </a:t>
            </a:r>
            <a:r>
              <a:rPr lang="es-MX" dirty="0" err="1"/>
              <a:t>NombreUsuario</a:t>
            </a:r>
            <a:r>
              <a:rPr lang="es-MX" dirty="0"/>
              <a:t> = </a:t>
            </a:r>
            <a:r>
              <a:rPr lang="es-MX" dirty="0" err="1"/>
              <a:t>p.Usuario.Nombre</a:t>
            </a:r>
            <a:br>
              <a:rPr lang="es-MX" dirty="0"/>
            </a:br>
            <a:r>
              <a:rPr lang="es-MX" dirty="0"/>
              <a:t>    })</a:t>
            </a:r>
            <a:br>
              <a:rPr lang="es-MX" dirty="0"/>
            </a:br>
            <a:r>
              <a:rPr lang="es-MX" dirty="0"/>
              <a:t>    .</a:t>
            </a:r>
            <a:r>
              <a:rPr lang="es-MX" dirty="0" err="1"/>
              <a:t>ToList</a:t>
            </a:r>
            <a:r>
              <a:rPr lang="es-MX" dirty="0"/>
              <a:t>();</a:t>
            </a:r>
            <a:br>
              <a:rPr lang="es-MX" dirty="0"/>
            </a:br>
            <a:br>
              <a:rPr lang="es-MX" dirty="0"/>
            </a:br>
            <a:r>
              <a:rPr lang="es-MX" dirty="0" err="1"/>
              <a:t>return</a:t>
            </a:r>
            <a:r>
              <a:rPr lang="es-MX" dirty="0"/>
              <a:t> Ok(pedido);</a:t>
            </a:r>
          </a:p>
        </p:txBody>
      </p:sp>
    </p:spTree>
    <p:extLst>
      <p:ext uri="{BB962C8B-B14F-4D97-AF65-F5344CB8AC3E}">
        <p14:creationId xmlns:p14="http://schemas.microsoft.com/office/powerpoint/2010/main" val="14169423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506BB-5AEA-F636-D141-C73D71E2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Que es un DTO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9A0320-D393-D1CD-6B6D-A2294A6C2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/>
              <a:t>En </a:t>
            </a:r>
            <a:r>
              <a:rPr lang="es-ES" b="1" dirty="0"/>
              <a:t>.NET Core</a:t>
            </a:r>
            <a:r>
              <a:rPr lang="es-ES" dirty="0"/>
              <a:t>, un </a:t>
            </a:r>
            <a:r>
              <a:rPr lang="es-ES" b="1" dirty="0"/>
              <a:t>DTO (Data Transfer </a:t>
            </a:r>
            <a:r>
              <a:rPr lang="es-ES" b="1" dirty="0" err="1"/>
              <a:t>Object</a:t>
            </a:r>
            <a:r>
              <a:rPr lang="es-ES" b="1" dirty="0"/>
              <a:t>)</a:t>
            </a:r>
            <a:r>
              <a:rPr lang="es-ES" dirty="0"/>
              <a:t> es un objeto simple que se utiliza para </a:t>
            </a:r>
            <a:r>
              <a:rPr lang="es-ES" b="1" dirty="0"/>
              <a:t>transportar datos entre capas de una aplicación</a:t>
            </a:r>
            <a:r>
              <a:rPr lang="es-ES" dirty="0"/>
              <a:t>, especialmente entre el </a:t>
            </a:r>
            <a:r>
              <a:rPr lang="es-ES" dirty="0" err="1"/>
              <a:t>backend</a:t>
            </a:r>
            <a:r>
              <a:rPr lang="es-ES" dirty="0"/>
              <a:t> y el cliente (por ejemplo, una API y un </a:t>
            </a:r>
            <a:r>
              <a:rPr lang="es-ES" dirty="0" err="1"/>
              <a:t>frontend</a:t>
            </a:r>
            <a:r>
              <a:rPr lang="es-ES" dirty="0"/>
              <a:t>).</a:t>
            </a:r>
          </a:p>
          <a:p>
            <a:pPr marL="0" indent="0">
              <a:buNone/>
            </a:pPr>
            <a:r>
              <a:rPr lang="es-ES" b="1" dirty="0"/>
              <a:t>🧠 Idea clave</a:t>
            </a:r>
          </a:p>
          <a:p>
            <a:r>
              <a:rPr lang="es-ES" dirty="0"/>
              <a:t>Un DTO </a:t>
            </a:r>
            <a:r>
              <a:rPr lang="es-ES" b="1" dirty="0"/>
              <a:t>no contiene lógica de negocio</a:t>
            </a:r>
            <a:r>
              <a:rPr lang="es-ES" dirty="0"/>
              <a:t>, solo datos.</a:t>
            </a:r>
          </a:p>
          <a:p>
            <a:pPr marL="0" indent="0">
              <a:buNone/>
            </a:pPr>
            <a:br>
              <a:rPr lang="es-ES" dirty="0"/>
            </a:br>
            <a:endParaRPr lang="es-ES" dirty="0"/>
          </a:p>
          <a:p>
            <a:r>
              <a:rPr lang="es-ES" b="1" dirty="0"/>
              <a:t>📦 ¿Para qué sirve?</a:t>
            </a:r>
          </a:p>
          <a:p>
            <a:r>
              <a:rPr lang="es-ES" dirty="0"/>
              <a:t>Se usa principalmente para:</a:t>
            </a:r>
          </a:p>
          <a:p>
            <a:r>
              <a:rPr lang="es-ES" b="1" dirty="0"/>
              <a:t>Evitar exponer directamente tus entidades de base de datos</a:t>
            </a:r>
            <a:r>
              <a:rPr lang="es-ES" dirty="0"/>
              <a:t> </a:t>
            </a:r>
          </a:p>
          <a:p>
            <a:r>
              <a:rPr lang="es-ES" b="1" dirty="0"/>
              <a:t>Controlar qué datos envías o recibes</a:t>
            </a:r>
            <a:r>
              <a:rPr lang="es-ES" dirty="0"/>
              <a:t> </a:t>
            </a:r>
          </a:p>
          <a:p>
            <a:r>
              <a:rPr lang="es-ES" b="1" dirty="0"/>
              <a:t>Optimizar el tráfico</a:t>
            </a:r>
            <a:r>
              <a:rPr lang="es-ES" dirty="0"/>
              <a:t> (enviar solo lo necesario) </a:t>
            </a:r>
          </a:p>
          <a:p>
            <a:r>
              <a:rPr lang="es-ES" b="1" dirty="0"/>
              <a:t>Dar forma específica a la información</a:t>
            </a:r>
            <a:r>
              <a:rPr lang="es-ES" dirty="0"/>
              <a:t> según el caso de uso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43917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BB4E6-C727-3C7C-800A-9D026CAB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F6559-BD7C-454E-541D-637B1AC98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1" dirty="0"/>
              <a:t>🏗️ Ejemplo sencillo</a:t>
            </a:r>
          </a:p>
          <a:p>
            <a:pPr marL="0" indent="0">
              <a:buNone/>
            </a:pPr>
            <a:r>
              <a:rPr lang="es-MX" dirty="0" err="1"/>
              <a:t>Supóngamos</a:t>
            </a:r>
            <a:r>
              <a:rPr lang="es-MX" dirty="0"/>
              <a:t> que tenemos una entidad (modelo de base de datos):</a:t>
            </a:r>
          </a:p>
          <a:p>
            <a:pPr marL="0" indent="0">
              <a:buNone/>
            </a:pP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class</a:t>
            </a:r>
            <a:r>
              <a:rPr lang="es-MX" dirty="0"/>
              <a:t> Usuario</a:t>
            </a:r>
            <a:br>
              <a:rPr lang="es-MX" dirty="0"/>
            </a:br>
            <a:r>
              <a:rPr lang="es-MX" dirty="0"/>
              <a:t>{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int</a:t>
            </a:r>
            <a:r>
              <a:rPr lang="es-MX" dirty="0"/>
              <a:t> Id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string</a:t>
            </a:r>
            <a:r>
              <a:rPr lang="es-MX" dirty="0"/>
              <a:t> Nombre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string</a:t>
            </a:r>
            <a:r>
              <a:rPr lang="es-MX" dirty="0"/>
              <a:t> </a:t>
            </a:r>
            <a:r>
              <a:rPr lang="es-MX" dirty="0" err="1"/>
              <a:t>Password</a:t>
            </a:r>
            <a:r>
              <a:rPr lang="es-MX" dirty="0"/>
              <a:t>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string</a:t>
            </a:r>
            <a:r>
              <a:rPr lang="es-MX" dirty="0"/>
              <a:t> Email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}</a:t>
            </a:r>
          </a:p>
          <a:p>
            <a:r>
              <a:rPr lang="es-MX" dirty="0"/>
              <a:t>❌ No es buena idea enviar esto directamente al cliente (¡incluye el </a:t>
            </a:r>
            <a:r>
              <a:rPr lang="es-MX" dirty="0" err="1"/>
              <a:t>password</a:t>
            </a:r>
            <a:r>
              <a:rPr lang="es-MX" dirty="0"/>
              <a:t>!).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83142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2CF7B-AC69-2255-550F-E2083EC04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Usando un DTO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C293D1-956E-24BD-0886-A6DC42C8A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UsuarioDto</a:t>
            </a:r>
            <a:br>
              <a:rPr lang="es-MX" dirty="0"/>
            </a:br>
            <a:r>
              <a:rPr lang="es-MX" dirty="0"/>
              <a:t>{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int</a:t>
            </a:r>
            <a:r>
              <a:rPr lang="es-MX" dirty="0"/>
              <a:t> Id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string</a:t>
            </a:r>
            <a:r>
              <a:rPr lang="es-MX" dirty="0"/>
              <a:t> Nombre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string</a:t>
            </a:r>
            <a:r>
              <a:rPr lang="es-MX" dirty="0"/>
              <a:t> Email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r>
              <a:rPr lang="es-MX" dirty="0"/>
              <a:t>}</a:t>
            </a:r>
          </a:p>
          <a:p>
            <a:r>
              <a:rPr lang="es-MX" dirty="0"/>
              <a:t>Ahora solo enviamos lo necesario.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388213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C9CBA-AE26-BB61-8DEA-CDE4AFD8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se usa?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4476E-3E47-F897-65B1-8AF37F248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Normalmente haces una conversión:</a:t>
            </a:r>
          </a:p>
          <a:p>
            <a:pPr marL="0" indent="0">
              <a:buNone/>
            </a:pPr>
            <a:r>
              <a:rPr lang="es-MX" dirty="0" err="1"/>
              <a:t>var</a:t>
            </a:r>
            <a:r>
              <a:rPr lang="es-MX" dirty="0"/>
              <a:t> </a:t>
            </a:r>
            <a:r>
              <a:rPr lang="es-MX" dirty="0" err="1"/>
              <a:t>usuarioDto</a:t>
            </a:r>
            <a:r>
              <a:rPr lang="es-MX" dirty="0"/>
              <a:t> = new </a:t>
            </a:r>
            <a:r>
              <a:rPr lang="es-MX" dirty="0" err="1"/>
              <a:t>UsuarioDto</a:t>
            </a:r>
            <a:br>
              <a:rPr lang="es-MX" dirty="0"/>
            </a:br>
            <a:r>
              <a:rPr lang="es-MX" dirty="0"/>
              <a:t>{</a:t>
            </a:r>
            <a:br>
              <a:rPr lang="es-MX" dirty="0"/>
            </a:br>
            <a:r>
              <a:rPr lang="es-MX" dirty="0"/>
              <a:t>    Id = </a:t>
            </a:r>
            <a:r>
              <a:rPr lang="es-MX" dirty="0" err="1"/>
              <a:t>usuario.Id</a:t>
            </a:r>
            <a:r>
              <a:rPr lang="es-MX" dirty="0"/>
              <a:t>,</a:t>
            </a:r>
            <a:br>
              <a:rPr lang="es-MX" dirty="0"/>
            </a:br>
            <a:r>
              <a:rPr lang="es-MX" dirty="0"/>
              <a:t>    Nombre = </a:t>
            </a:r>
            <a:r>
              <a:rPr lang="es-MX" dirty="0" err="1"/>
              <a:t>usuario.Nombre</a:t>
            </a:r>
            <a:r>
              <a:rPr lang="es-MX" dirty="0"/>
              <a:t>,</a:t>
            </a:r>
            <a:br>
              <a:rPr lang="es-MX" dirty="0"/>
            </a:br>
            <a:r>
              <a:rPr lang="es-MX" dirty="0"/>
              <a:t>    Email = </a:t>
            </a:r>
            <a:r>
              <a:rPr lang="es-MX" dirty="0" err="1"/>
              <a:t>usuario.Email</a:t>
            </a:r>
            <a:br>
              <a:rPr lang="es-MX" dirty="0"/>
            </a:br>
            <a:r>
              <a:rPr lang="es-MX" dirty="0"/>
              <a:t>};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480997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41B21-8D66-272F-A26F-F1212713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97727"/>
            <a:ext cx="8634984" cy="670370"/>
          </a:xfrm>
        </p:spPr>
        <p:txBody>
          <a:bodyPr>
            <a:normAutofit fontScale="90000"/>
          </a:bodyPr>
          <a:lstStyle/>
          <a:p>
            <a:r>
              <a:rPr lang="es-MX" dirty="0"/>
              <a:t>MAPEO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F87DF6-9A35-AEF0-EB0A-89898BEF2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768096"/>
            <a:ext cx="10896600" cy="587044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s-MX" dirty="0" err="1"/>
              <a:t>protected</a:t>
            </a:r>
            <a:r>
              <a:rPr lang="es-MX" dirty="0"/>
              <a:t> </a:t>
            </a:r>
            <a:r>
              <a:rPr lang="es-MX" dirty="0" err="1"/>
              <a:t>override</a:t>
            </a:r>
            <a:r>
              <a:rPr lang="es-MX" dirty="0"/>
              <a:t> </a:t>
            </a:r>
            <a:r>
              <a:rPr lang="es-MX" dirty="0" err="1"/>
              <a:t>void</a:t>
            </a:r>
            <a:r>
              <a:rPr lang="es-MX" dirty="0"/>
              <a:t> </a:t>
            </a:r>
            <a:r>
              <a:rPr lang="es-MX" dirty="0" err="1"/>
              <a:t>OnModelCreating</a:t>
            </a:r>
            <a:r>
              <a:rPr lang="es-MX" dirty="0"/>
              <a:t>(</a:t>
            </a:r>
            <a:r>
              <a:rPr lang="es-MX" dirty="0" err="1"/>
              <a:t>ModelBuilder</a:t>
            </a:r>
            <a:r>
              <a:rPr lang="es-MX" dirty="0"/>
              <a:t> </a:t>
            </a:r>
            <a:r>
              <a:rPr lang="es-MX" dirty="0" err="1"/>
              <a:t>modelBuilder</a:t>
            </a:r>
            <a:r>
              <a:rPr lang="es-MX" dirty="0"/>
              <a:t>) es un método clave en </a:t>
            </a:r>
            <a:r>
              <a:rPr lang="es-MX" b="1" dirty="0" err="1"/>
              <a:t>Entity</a:t>
            </a:r>
            <a:r>
              <a:rPr lang="es-MX" b="1" dirty="0"/>
              <a:t> Framework Core</a:t>
            </a:r>
            <a:r>
              <a:rPr lang="es-MX" dirty="0"/>
              <a:t> que se usa dentro de tu clase </a:t>
            </a:r>
            <a:r>
              <a:rPr lang="es-MX" dirty="0" err="1"/>
              <a:t>DbContext</a:t>
            </a:r>
            <a:r>
              <a:rPr lang="es-MX" dirty="0"/>
              <a:t> para </a:t>
            </a:r>
            <a:r>
              <a:rPr lang="es-MX" b="1" dirty="0"/>
              <a:t>configurar cómo se mapean tus entidades a la base de datos</a:t>
            </a:r>
            <a:r>
              <a:rPr lang="es-MX" dirty="0"/>
              <a:t>.</a:t>
            </a:r>
          </a:p>
          <a:p>
            <a:pPr marL="0" indent="0">
              <a:buNone/>
            </a:pPr>
            <a:br>
              <a:rPr lang="es-MX" dirty="0"/>
            </a:br>
            <a:endParaRPr lang="es-MX" dirty="0"/>
          </a:p>
          <a:p>
            <a:pPr marL="0" indent="0">
              <a:buNone/>
            </a:pPr>
            <a:r>
              <a:rPr lang="es-MX" b="1" dirty="0"/>
              <a:t>🧠 Idea simple</a:t>
            </a:r>
          </a:p>
          <a:p>
            <a:r>
              <a:rPr lang="es-MX" dirty="0"/>
              <a:t>Es el lugar donde defines reglas como:</a:t>
            </a:r>
          </a:p>
          <a:p>
            <a:r>
              <a:rPr lang="es-MX" dirty="0"/>
              <a:t>Cómo se llaman las tablas </a:t>
            </a:r>
          </a:p>
          <a:p>
            <a:r>
              <a:rPr lang="es-MX" dirty="0"/>
              <a:t>Claves primarias y foráneas </a:t>
            </a:r>
          </a:p>
          <a:p>
            <a:r>
              <a:rPr lang="es-MX" dirty="0"/>
              <a:t>Relaciones entre entidades </a:t>
            </a:r>
          </a:p>
          <a:p>
            <a:r>
              <a:rPr lang="es-MX" dirty="0"/>
              <a:t>Restricciones (longitud, requeridos, etc.) </a:t>
            </a:r>
          </a:p>
          <a:p>
            <a:pPr marL="0" indent="0">
              <a:buNone/>
            </a:pPr>
            <a:br>
              <a:rPr lang="es-MX" dirty="0"/>
            </a:br>
            <a:endParaRPr lang="es-MX" dirty="0"/>
          </a:p>
          <a:p>
            <a:pPr marL="0" indent="0">
              <a:buNone/>
            </a:pPr>
            <a:r>
              <a:rPr lang="es-MX" b="1" dirty="0"/>
              <a:t>📍 ¿Dónde aparece?</a:t>
            </a:r>
          </a:p>
          <a:p>
            <a:r>
              <a:rPr lang="es-MX" dirty="0"/>
              <a:t>Dentro de tu </a:t>
            </a:r>
            <a:r>
              <a:rPr lang="es-MX" dirty="0" err="1"/>
              <a:t>DbContext</a:t>
            </a:r>
            <a:r>
              <a:rPr lang="es-MX" dirty="0"/>
              <a:t>:</a:t>
            </a:r>
          </a:p>
          <a:p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MiDbContext</a:t>
            </a:r>
            <a:r>
              <a:rPr lang="es-MX" dirty="0"/>
              <a:t> : </a:t>
            </a:r>
            <a:r>
              <a:rPr lang="es-MX" dirty="0" err="1"/>
              <a:t>DbContext</a:t>
            </a:r>
            <a:br>
              <a:rPr lang="es-MX" dirty="0"/>
            </a:br>
            <a:r>
              <a:rPr lang="es-MX" dirty="0"/>
              <a:t>{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public</a:t>
            </a:r>
            <a:r>
              <a:rPr lang="es-MX" dirty="0"/>
              <a:t> </a:t>
            </a:r>
            <a:r>
              <a:rPr lang="es-MX" dirty="0" err="1"/>
              <a:t>DbSet</a:t>
            </a:r>
            <a:r>
              <a:rPr lang="es-MX" dirty="0"/>
              <a:t>&lt;Usuario&gt; Usuarios { </a:t>
            </a:r>
            <a:r>
              <a:rPr lang="es-MX" dirty="0" err="1"/>
              <a:t>get</a:t>
            </a:r>
            <a:r>
              <a:rPr lang="es-MX" dirty="0"/>
              <a:t>; set; }</a:t>
            </a:r>
            <a:br>
              <a:rPr lang="es-MX" dirty="0"/>
            </a:b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protected</a:t>
            </a:r>
            <a:r>
              <a:rPr lang="es-MX" dirty="0"/>
              <a:t> </a:t>
            </a:r>
            <a:r>
              <a:rPr lang="es-MX" dirty="0" err="1"/>
              <a:t>override</a:t>
            </a:r>
            <a:r>
              <a:rPr lang="es-MX" dirty="0"/>
              <a:t> </a:t>
            </a:r>
            <a:r>
              <a:rPr lang="es-MX" dirty="0" err="1"/>
              <a:t>void</a:t>
            </a:r>
            <a:r>
              <a:rPr lang="es-MX" dirty="0"/>
              <a:t> </a:t>
            </a:r>
            <a:r>
              <a:rPr lang="es-MX" dirty="0" err="1"/>
              <a:t>OnModelCreating</a:t>
            </a:r>
            <a:r>
              <a:rPr lang="es-MX" dirty="0"/>
              <a:t>(</a:t>
            </a:r>
            <a:r>
              <a:rPr lang="es-MX" dirty="0" err="1"/>
              <a:t>ModelBuilder</a:t>
            </a:r>
            <a:r>
              <a:rPr lang="es-MX" dirty="0"/>
              <a:t> </a:t>
            </a:r>
            <a:r>
              <a:rPr lang="es-MX" dirty="0" err="1"/>
              <a:t>modelBuilder</a:t>
            </a:r>
            <a:r>
              <a:rPr lang="es-MX" dirty="0"/>
              <a:t>)</a:t>
            </a:r>
            <a:br>
              <a:rPr lang="es-MX" dirty="0"/>
            </a:br>
            <a:r>
              <a:rPr lang="es-MX" dirty="0"/>
              <a:t>    {</a:t>
            </a:r>
            <a:br>
              <a:rPr lang="es-MX" dirty="0"/>
            </a:br>
            <a:r>
              <a:rPr lang="es-MX" dirty="0"/>
              <a:t>        // Configuración aquí</a:t>
            </a:r>
            <a:br>
              <a:rPr lang="es-MX" dirty="0"/>
            </a:br>
            <a:r>
              <a:rPr lang="es-MX" dirty="0"/>
              <a:t>    }</a:t>
            </a:r>
            <a:br>
              <a:rPr lang="es-MX" dirty="0"/>
            </a:br>
            <a:r>
              <a:rPr lang="es-MX" dirty="0"/>
              <a:t>}</a:t>
            </a:r>
          </a:p>
          <a:p>
            <a:pPr marL="0" indent="0">
              <a:buNone/>
            </a:pPr>
            <a:br>
              <a:rPr lang="es-MX" dirty="0"/>
            </a:br>
            <a:endParaRPr lang="es-MX" dirty="0"/>
          </a:p>
          <a:p>
            <a:pPr marL="0" indent="0">
              <a:buNone/>
            </a:pPr>
            <a:r>
              <a:rPr lang="es-MX" b="1" dirty="0"/>
              <a:t>🔍 ¿Qué significa cada parte?</a:t>
            </a:r>
          </a:p>
          <a:p>
            <a:r>
              <a:rPr lang="es-MX" b="1" dirty="0" err="1"/>
              <a:t>protected</a:t>
            </a:r>
            <a:r>
              <a:rPr lang="es-MX" dirty="0"/>
              <a:t> → Solo accesible dentro de la clase y clases derivadas </a:t>
            </a:r>
          </a:p>
          <a:p>
            <a:r>
              <a:rPr lang="es-MX" b="1" dirty="0" err="1"/>
              <a:t>override</a:t>
            </a:r>
            <a:r>
              <a:rPr lang="es-MX" dirty="0"/>
              <a:t> → Estás sobrescribiendo un método de </a:t>
            </a:r>
            <a:r>
              <a:rPr lang="es-MX" dirty="0" err="1"/>
              <a:t>DbContext</a:t>
            </a:r>
            <a:r>
              <a:rPr lang="es-MX" dirty="0"/>
              <a:t> </a:t>
            </a:r>
          </a:p>
          <a:p>
            <a:r>
              <a:rPr lang="es-MX" b="1" dirty="0" err="1"/>
              <a:t>OnModelCreating</a:t>
            </a:r>
            <a:r>
              <a:rPr lang="es-MX" dirty="0"/>
              <a:t> → Método que se ejecuta al construir el modelo de datos </a:t>
            </a:r>
          </a:p>
          <a:p>
            <a:r>
              <a:rPr lang="es-MX" b="1" dirty="0" err="1"/>
              <a:t>ModelBuilder</a:t>
            </a:r>
            <a:r>
              <a:rPr lang="es-MX" dirty="0"/>
              <a:t> → Objeto que permite configurar las entidades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D80517-0D29-5491-4405-860A1CBF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362" y="2258567"/>
            <a:ext cx="5734237" cy="391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191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</TotalTime>
  <Words>3770</Words>
  <Application>Microsoft Office PowerPoint</Application>
  <PresentationFormat>Panorámica</PresentationFormat>
  <Paragraphs>439</Paragraphs>
  <Slides>75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75</vt:i4>
      </vt:variant>
    </vt:vector>
  </HeadingPairs>
  <TitlesOfParts>
    <vt:vector size="79" baseType="lpstr">
      <vt:lpstr>Aptos</vt:lpstr>
      <vt:lpstr>Aptos Display</vt:lpstr>
      <vt:lpstr>Arial</vt:lpstr>
      <vt:lpstr>Tema de Office</vt:lpstr>
      <vt:lpstr>INICIAMOS 27 DE SEPTIEMBRE 2026</vt:lpstr>
      <vt:lpstr>API REST</vt:lpstr>
      <vt:lpstr>Agregando Nuevo Campo a la tabla Productos</vt:lpstr>
      <vt:lpstr>INSERTANDO REGISTROS EN LA TABLA PRODUCTOS</vt:lpstr>
      <vt:lpstr>Presentación de PowerPoint</vt:lpstr>
      <vt:lpstr>REALIZAMOS UNA CONSULTA E INSERTAMOS UNOS REGISTROS</vt:lpstr>
      <vt:lpstr>Comprobomos los registros</vt:lpstr>
      <vt:lpstr>¿Qué es una API REST en .NET Core?</vt:lpstr>
      <vt:lpstr>Presentación de PowerPoint</vt:lpstr>
      <vt:lpstr>¿Qué hace?</vt:lpstr>
      <vt:lpstr>Ejemplo real</vt:lpstr>
      <vt:lpstr>¿Por qué en .NET Core?</vt:lpstr>
      <vt:lpstr>QUE ES UNA API</vt:lpstr>
      <vt:lpstr>¿Para qué sirve?</vt:lpstr>
      <vt:lpstr>REST</vt:lpstr>
      <vt:lpstr>Principios básicos de REST:</vt:lpstr>
      <vt:lpstr>Arquitectura REST </vt:lpstr>
      <vt:lpstr>Presentación de PowerPoint</vt:lpstr>
      <vt:lpstr>Presentación de PowerPoint</vt:lpstr>
      <vt:lpstr>Interfaz en una API REST</vt:lpstr>
      <vt:lpstr>Herramientas para probar APIs</vt:lpstr>
      <vt:lpstr>Presentación de PowerPoint</vt:lpstr>
      <vt:lpstr>.NET</vt:lpstr>
      <vt:lpstr>C#</vt:lpstr>
      <vt:lpstr>C# EXPLICACION</vt:lpstr>
      <vt:lpstr>ASP.NET Core</vt:lpstr>
      <vt:lpstr>Presentación de PowerPoint</vt:lpstr>
      <vt:lpstr>¿Qué es un Controlador en ASP.NET Core?</vt:lpstr>
      <vt:lpstr>CREAR MI PRIMERA API</vt:lpstr>
      <vt:lpstr>Presentación de PowerPoint</vt:lpstr>
      <vt:lpstr>Presentación de PowerPoint</vt:lpstr>
      <vt:lpstr>Elegimos el .net core utilizaremos la 10</vt:lpstr>
      <vt:lpstr>Se creara el proyecto y un ejemplo</vt:lpstr>
      <vt:lpstr>Ejecutamos el proyecto como indica y usamos posmant</vt:lpstr>
      <vt:lpstr>explicacion</vt:lpstr>
      <vt:lpstr>Presentación de PowerPoint</vt:lpstr>
      <vt:lpstr>Presentación de PowerPoint</vt:lpstr>
      <vt:lpstr>Presentación de PowerPoint</vt:lpstr>
      <vt:lpstr>Estructura</vt:lpstr>
      <vt:lpstr>Presentación de PowerPoint</vt:lpstr>
      <vt:lpstr>Clase Program.cs</vt:lpstr>
      <vt:lpstr>ARCHIVO appsettings.json</vt:lpstr>
      <vt:lpstr>Simulando una cadena de conexión para DEV y para PROD</vt:lpstr>
      <vt:lpstr>Presentación de PowerPoint</vt:lpstr>
      <vt:lpstr>Entity Framework Core (EF Core)</vt:lpstr>
      <vt:lpstr>INSTALANDO Entity Framework Core </vt:lpstr>
      <vt:lpstr>Presentación de PowerPoint</vt:lpstr>
      <vt:lpstr>DbContext</vt:lpstr>
      <vt:lpstr>Como usamos visual studio tememos que instalar Microsoft.EntityFrameworkCore.Tools, esto nos permitira obtener comandos para poder interactuar </vt:lpstr>
      <vt:lpstr>Creando la clase DbContext:pieza centrar donde tenemos las configuraciones de entity framework core </vt:lpstr>
      <vt:lpstr>Configuracionde DbContext </vt:lpstr>
      <vt:lpstr>Presentación de PowerPoint</vt:lpstr>
      <vt:lpstr>Presentación de PowerPoint</vt:lpstr>
      <vt:lpstr>Presentación de PowerPoint</vt:lpstr>
      <vt:lpstr>COMSUMIR EN NUESTRA APP DE CARRITO</vt:lpstr>
      <vt:lpstr>Presentación de PowerPoint</vt:lpstr>
      <vt:lpstr>Explicacion cors</vt:lpstr>
      <vt:lpstr>Explicación</vt:lpstr>
      <vt:lpstr>Presentación de PowerPoint</vt:lpstr>
      <vt:lpstr>Presentación de PowerPoint</vt:lpstr>
      <vt:lpstr>Presentación de PowerPoint</vt:lpstr>
      <vt:lpstr>EXPLICACION DE NUESTRO PRIMER CONTROLLER</vt:lpstr>
      <vt:lpstr>Presentación de PowerPoint</vt:lpstr>
      <vt:lpstr>Presentación de PowerPoint</vt:lpstr>
      <vt:lpstr>¿Qué es Task&lt;IActionResult&gt;?</vt:lpstr>
      <vt:lpstr>PUT Es un endpoint PUT en ASP.NET Core para actualizar un producto en la base de datos.</vt:lpstr>
      <vt:lpstr>RELACION 1  A MUCHOS</vt:lpstr>
      <vt:lpstr>Presentación de PowerPoint</vt:lpstr>
      <vt:lpstr>✅ SOLUCIONES (de mejor a peor)</vt:lpstr>
      <vt:lpstr>Presentación de PowerPoint</vt:lpstr>
      <vt:lpstr>Que es un DTO</vt:lpstr>
      <vt:lpstr>Presentación de PowerPoint</vt:lpstr>
      <vt:lpstr>Usando un DTO</vt:lpstr>
      <vt:lpstr>¿Cómo se usa?</vt:lpstr>
      <vt:lpstr>MAPEO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garcia toledo</dc:creator>
  <cp:lastModifiedBy>fabian garcia toledo</cp:lastModifiedBy>
  <cp:revision>35</cp:revision>
  <dcterms:created xsi:type="dcterms:W3CDTF">2026-03-18T05:31:28Z</dcterms:created>
  <dcterms:modified xsi:type="dcterms:W3CDTF">2026-09-27T18:10:37Z</dcterms:modified>
</cp:coreProperties>
</file>